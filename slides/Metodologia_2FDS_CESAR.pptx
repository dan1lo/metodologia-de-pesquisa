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iCNmITd5kXxq/1TeLAj2AYFy39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a40e91c70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ea40e91c70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ea40e91c70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a40e91c70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ea40e91c70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ea40e91c70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a40e91c70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ea40e91c70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ea40e91c70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0" name="Google Shape;75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0" name="Google Shape;76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5" name="Google Shape;80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Metodologia de Pesquisa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2º Final de Semana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743200"/>
            <a:ext cx="2606040" cy="34747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27432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Filosofia da Ciência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246120" y="2743200"/>
            <a:ext cx="2606040" cy="34747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3246120" y="27432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Survey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035040" y="2743200"/>
            <a:ext cx="2606040" cy="34747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035040" y="27432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Grupo Focal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57200" y="3200400"/>
            <a:ext cx="2606040" cy="34747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57200" y="32004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Experimento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246120" y="3200400"/>
            <a:ext cx="2606040" cy="34747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3246120" y="32004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DSR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035040" y="3200400"/>
            <a:ext cx="2606040" cy="34747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035040" y="32004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Escolha do Método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CESAR School  ·  Mestrado em Ciência da Computação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Sexta-feira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20040" y="1325880"/>
            <a:ext cx="8503920" cy="594360"/>
          </a:xfrm>
          <a:prstGeom prst="rect">
            <a:avLst/>
          </a:prstGeom>
          <a:solidFill>
            <a:srgbClr val="2A2A2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20040" y="1389888"/>
            <a:ext cx="54864" cy="4572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02920" y="1362456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Abertura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02920" y="162763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Revisão do 1º FDS + pergunta-âncora do FDS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20040" y="2039112"/>
            <a:ext cx="8503920" cy="594360"/>
          </a:xfrm>
          <a:prstGeom prst="rect">
            <a:avLst/>
          </a:prstGeom>
          <a:solidFill>
            <a:srgbClr val="2A2A2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320040" y="2103120"/>
            <a:ext cx="54864" cy="4572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02920" y="207568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Bloco 1 — Filosofia da Ciência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02920" y="234086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Posturas filosóficas + Quali vs. Quanti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20040" y="2752344"/>
            <a:ext cx="8503920" cy="594360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320040" y="2816352"/>
            <a:ext cx="54864" cy="457200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02920" y="278892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Intervalo / Lanche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20040" y="3465576"/>
            <a:ext cx="8503920" cy="594360"/>
          </a:xfrm>
          <a:prstGeom prst="rect">
            <a:avLst/>
          </a:prstGeom>
          <a:solidFill>
            <a:srgbClr val="2A2A2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20040" y="3529584"/>
            <a:ext cx="54864" cy="4572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502920" y="3502152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Bloco 2 — Survey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02920" y="3767328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Leitura • Apresentação • Consolidação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20040" y="4178808"/>
            <a:ext cx="8503920" cy="594360"/>
          </a:xfrm>
          <a:prstGeom prst="rect">
            <a:avLst/>
          </a:prstGeom>
          <a:solidFill>
            <a:srgbClr val="2A2A2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320040" y="4242816"/>
            <a:ext cx="54864" cy="4572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502920" y="4215384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Bloco 2 — Grupo Focal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02920" y="448056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Leitura • Apresentação • Consolidação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Sábado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20040" y="1325880"/>
            <a:ext cx="8503920" cy="594360"/>
          </a:xfrm>
          <a:prstGeom prst="rect">
            <a:avLst/>
          </a:prstGeom>
          <a:solidFill>
            <a:srgbClr val="2A2A2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20040" y="1389888"/>
            <a:ext cx="54864" cy="4572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502920" y="1362456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Bloco 3 — Experimento + Quasi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02920" y="162763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Leitura • Apresentação • Consolidação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20040" y="2039112"/>
            <a:ext cx="8503920" cy="594360"/>
          </a:xfrm>
          <a:prstGeom prst="rect">
            <a:avLst/>
          </a:prstGeom>
          <a:solidFill>
            <a:srgbClr val="2A2A2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20040" y="2103120"/>
            <a:ext cx="54864" cy="4572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02920" y="207568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Bloco 4 — DSR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02920" y="234086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Leitura • Apresentação • Consolidação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20040" y="2752344"/>
            <a:ext cx="8503920" cy="594360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320040" y="2816352"/>
            <a:ext cx="54864" cy="457200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502920" y="278892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Almoço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20040" y="3465576"/>
            <a:ext cx="8503920" cy="594360"/>
          </a:xfrm>
          <a:prstGeom prst="rect">
            <a:avLst/>
          </a:prstGeom>
          <a:solidFill>
            <a:srgbClr val="2A2A2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320040" y="3529584"/>
            <a:ext cx="54864" cy="4572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502920" y="3502152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Bloco 5 — Escolha do Método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02920" y="3767328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Mapa • Atividade individual • Debate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20040" y="4178808"/>
            <a:ext cx="8503920" cy="594360"/>
          </a:xfrm>
          <a:prstGeom prst="rect">
            <a:avLst/>
          </a:prstGeom>
          <a:solidFill>
            <a:srgbClr val="2A2A2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320040" y="4242816"/>
            <a:ext cx="54864" cy="4572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02920" y="4215384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Bloco 6 — Estrutura da Pesquisa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02920" y="448056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Seção de metodologia + Canvas atualizado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Filosofia da Ciência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Quali / Quanti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8C33"/>
                </a:solidFill>
                <a:latin typeface="Arial"/>
                <a:ea typeface="Arial"/>
                <a:cs typeface="Arial"/>
                <a:sym typeface="Arial"/>
              </a:rPr>
              <a:t>Postura filosófica → Pergunta → Método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57200" y="3429000"/>
            <a:ext cx="137160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ABERTURA DO FDS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pergunta que vai guiar este FDS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solidFill>
            <a:srgbClr val="2A2A2A"/>
          </a:solidFill>
          <a:ln cap="flat" cmpd="sng" w="254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"Dado o seu problema de pesquisa —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 método você usaria, e por quê?"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65760" y="27889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Ao final do FDS, cada aluno vai responder a essa pergunta para o próprio trabalho.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57200" y="3355848"/>
            <a:ext cx="256032" cy="25603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822960" y="3246120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 escolha do método começa antes do método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57200" y="3858768"/>
            <a:ext cx="256032" cy="25603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822960" y="3749040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Postura filosófica → tipo de pergunta → tipo de estudo → método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57200" y="4361688"/>
            <a:ext cx="256032" cy="25603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822960" y="4251960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Não existe método certo ou errado — existe método adequado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200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LEITURA ATIVA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— Posturas Filosóficas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365760" y="120700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Material distribuído: Guide to Advanced Empirical Software Engineering (capítulo de filosofia da ciência)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65760" y="16916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Enquanto lê, identifique: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57200" y="208483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📌  Qual postura descreve como você acredita que o conhecimento é construído?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57200" y="258775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⚡  O que te surpreendeu ou com o que você discordou?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57200" y="309067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💡  Qual método essa postura mais favorece — e isso faz sentido para o seu trabalho?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20040" y="4114800"/>
            <a:ext cx="8503920" cy="34747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320040" y="4114800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1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Prepare-se para apresentar: qual postura você escolheu e por quê.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1111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 — FILOSOFIA DA CIÊNCIA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 4 Posturas Filosóficas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320040" y="1325880"/>
            <a:ext cx="4206240" cy="166420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320040" y="1325880"/>
            <a:ext cx="4206240" cy="38404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320040" y="132588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Positivismo 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Pós-positivismo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29768" y="1783080"/>
            <a:ext cx="3986784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Conhecimento construído por inferências lógicas de fatos observados. Hipóteses testadas no mundo real.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Métodos: experimentos, surveys, estudos de caso.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754880" y="1325880"/>
            <a:ext cx="4206240" cy="166420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4754880" y="1325880"/>
            <a:ext cx="4206240" cy="38404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754880" y="132588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Construtivismo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864608" y="1783080"/>
            <a:ext cx="3986784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Conhecimento construído socialmente. Teorias locais, ligadas a contexto.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Métodos: etnografia, estudos de caso exploratórios, pesquisa de campo.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320040" y="3108960"/>
            <a:ext cx="4206240" cy="166420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320040" y="3108960"/>
            <a:ext cx="4206240" cy="38404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320040" y="310896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Teoria Crítica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29768" y="3566160"/>
            <a:ext cx="3986784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Conhecimento como forma de liberação. Avalia práticas restritivas.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Métodos: pesquisa-ação, estudo de caso confirmatório.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754880" y="3108960"/>
            <a:ext cx="4206240" cy="166420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754880" y="3108960"/>
            <a:ext cx="4206240" cy="38404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4754880" y="310896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Pragmatismo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864608" y="3566160"/>
            <a:ext cx="3986784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Conhecimento é sempre incompleto. O que serve é o que funciona.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Métodos: múltiplos métodos combinados, desde que funcione.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a40e91c70_0_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ea40e91c70_0_1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 — FILOSOFIA DA CIÊNCIA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ea40e91c70_0_1"/>
          <p:cNvSpPr/>
          <p:nvPr/>
        </p:nvSpPr>
        <p:spPr>
          <a:xfrm>
            <a:off x="365760" y="41148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 4 Posturas Filosóficas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ea40e91c70_0_1"/>
          <p:cNvSpPr/>
          <p:nvPr/>
        </p:nvSpPr>
        <p:spPr>
          <a:xfrm>
            <a:off x="365760" y="1078992"/>
            <a:ext cx="1097400" cy="45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g3ea40e91c70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4675" y="1331525"/>
            <a:ext cx="5353424" cy="373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a40e91c70_0_27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ea40e91c70_0_27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 — FILOSOFIA DA CIÊNCIA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ea40e91c70_0_27"/>
          <p:cNvSpPr/>
          <p:nvPr/>
        </p:nvSpPr>
        <p:spPr>
          <a:xfrm>
            <a:off x="365760" y="41148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 4 Posturas Filosóficas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ea40e91c70_0_27"/>
          <p:cNvSpPr/>
          <p:nvPr/>
        </p:nvSpPr>
        <p:spPr>
          <a:xfrm>
            <a:off x="365760" y="1078992"/>
            <a:ext cx="1097400" cy="45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g3ea40e91c70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25" y="0"/>
            <a:ext cx="9022751" cy="502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a40e91c70_0_37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ea40e91c70_0_37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 — FILOSOFIA DA CIÊNCIA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ea40e91c70_0_37"/>
          <p:cNvSpPr/>
          <p:nvPr/>
        </p:nvSpPr>
        <p:spPr>
          <a:xfrm>
            <a:off x="365760" y="41148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 4 Posturas Filosóficas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ea40e91c70_0_37"/>
          <p:cNvSpPr/>
          <p:nvPr/>
        </p:nvSpPr>
        <p:spPr>
          <a:xfrm>
            <a:off x="365760" y="1078992"/>
            <a:ext cx="1097400" cy="456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g3ea40e91c70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7723" y="1051675"/>
            <a:ext cx="5537325" cy="3881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200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APRESENTAÇÃO DOS ALUNOS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 qual postura você se identificou?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365760" y="12344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Cada aluno/dupla apresenta: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20040" y="1664208"/>
            <a:ext cx="8503920" cy="69494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320040" y="1664208"/>
            <a:ext cx="502920" cy="69494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320040" y="1664208"/>
            <a:ext cx="5029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960120" y="1664208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 postura filosófica você escolheu?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20040" y="2487168"/>
            <a:ext cx="8503920" cy="69494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320040" y="2487168"/>
            <a:ext cx="502920" cy="69494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320040" y="2487168"/>
            <a:ext cx="5029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960120" y="2487168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que ela descreve como você vê a construção do conhecimento?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20040" y="3310128"/>
            <a:ext cx="8503920" cy="69494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320040" y="3310128"/>
            <a:ext cx="502920" cy="69494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320040" y="3310128"/>
            <a:ext cx="5029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960120" y="3310128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método essa postura favoreceria no seu trabalho?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320040" y="4133088"/>
            <a:ext cx="8503920" cy="69494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320040" y="4133088"/>
            <a:ext cx="502920" cy="69494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320040" y="4133088"/>
            <a:ext cx="5029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960120" y="4133088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Houve algo que te surpreendeu ou com que você discordou?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 — FILOSOFIA DA CIÊNCIA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Postura → Pergunta → Método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 escolha do método começa muito antes de você abrir um livro de métodos: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20040" y="1627632"/>
            <a:ext cx="8503920" cy="5486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320040" y="1627632"/>
            <a:ext cx="1828800" cy="54864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320040" y="162763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Postura Filosófica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2331720" y="1627632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que você acredita sobre a natureza do conhecimento?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685800" y="2176272"/>
            <a:ext cx="54864" cy="9144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320040" y="2267712"/>
            <a:ext cx="8503920" cy="5486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320040" y="2267712"/>
            <a:ext cx="1828800" cy="54864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320040" y="226771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 de Pergunta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2331720" y="2267712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Descritiva? Relacional? Causal? De design?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85800" y="2816352"/>
            <a:ext cx="54864" cy="9144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320040" y="2907792"/>
            <a:ext cx="8503920" cy="5486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320040" y="2907792"/>
            <a:ext cx="1828800" cy="54864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320040" y="290779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Abordagem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2331720" y="2907792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Qualitativa, Quantitativa ou Mista?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685800" y="3456432"/>
            <a:ext cx="54864" cy="9144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320040" y="3547872"/>
            <a:ext cx="1828800" cy="54864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320040" y="354787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2331720" y="3547872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Survey, experimento, estudo de caso, DSR...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85800" y="4096512"/>
            <a:ext cx="54864" cy="9144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320040" y="4187952"/>
            <a:ext cx="8503920" cy="5486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320040" y="4187952"/>
            <a:ext cx="1828800" cy="54864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320040" y="418795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2331720" y="4187952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Teoria, artefato, modelo, framework, evidência?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200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LEITURA ATIVA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— Qualitativa vs. Quantitativa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Artigos distribuídos sobre pesquisa qualitativa e quantitativa em 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365760" y="166420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Para cada artigo lido, responda: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320040" y="2084832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320040" y="2084832"/>
            <a:ext cx="164592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320040" y="2084832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Pergunta de pesquisa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2075688" y="2084832"/>
            <a:ext cx="6675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 é a pergunta central do artigo?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320040" y="2743200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320040" y="2743200"/>
            <a:ext cx="164592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320040" y="2743200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Postura implícita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2075688" y="2743200"/>
            <a:ext cx="6675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 postura filosófica está por trás dessa pesquisa? Como você sabe?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320040" y="3401568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320040" y="3401568"/>
            <a:ext cx="164592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320040" y="3401568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Quali ou Quanti?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2075688" y="3401568"/>
            <a:ext cx="6675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Como o autor coleta e analisa os dados? O que entrega como resultado?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320040" y="4059936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320040" y="4059936"/>
            <a:ext cx="164592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320040" y="4059936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Adequação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2075688" y="4059936"/>
            <a:ext cx="6675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Essa abordagem faz sentido para a pergunta que foi feita? Por quê?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1 — QUALI VS. QUANTI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Qualitativa vs. Quantitativa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320040" y="1298448"/>
            <a:ext cx="4114800" cy="35661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320040" y="1298448"/>
            <a:ext cx="4114800" cy="384048"/>
          </a:xfrm>
          <a:prstGeom prst="rect">
            <a:avLst/>
          </a:prstGeom>
          <a:solidFill>
            <a:srgbClr val="1C4E80"/>
          </a:solidFill>
          <a:ln cap="flat" cmpd="sng" w="12700">
            <a:solidFill>
              <a:srgbClr val="1C4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320040" y="129844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Pesquisa Qualitativa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429768" y="17739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Pergunta típica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1783080" y="1773936"/>
            <a:ext cx="25420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Como? Por quê? O que significa?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29768" y="23957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Dado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1783080" y="2395728"/>
            <a:ext cx="25420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Texto, observação, entrevista, artefato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429768" y="301752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Análise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1783080" y="3017520"/>
            <a:ext cx="25420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Interpretativa, temática, indutiva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429768" y="363931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Produto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1783080" y="3639312"/>
            <a:ext cx="25420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Teoria, modelo explicativo, compreensão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429768" y="426110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Exemplo 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1783080" y="4261104"/>
            <a:ext cx="25420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Etnografia, estudo de caso, grounded theory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4709160" y="1298448"/>
            <a:ext cx="4114800" cy="35661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4709160" y="1298448"/>
            <a:ext cx="4114800" cy="384048"/>
          </a:xfrm>
          <a:prstGeom prst="rect">
            <a:avLst/>
          </a:prstGeom>
          <a:solidFill>
            <a:srgbClr val="B7500A"/>
          </a:solidFill>
          <a:ln cap="flat" cmpd="sng" w="12700">
            <a:solidFill>
              <a:srgbClr val="B750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4709160" y="129844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Pesquisa Quantitativa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818888" y="17739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Pergunta típica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6172200" y="1773936"/>
            <a:ext cx="25420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Quanto? Com que frequência? Existe diferença?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4818888" y="23957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Dado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6172200" y="2395728"/>
            <a:ext cx="25420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Números, métricas, logs, questionários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4818888" y="301752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Análise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6172200" y="3017520"/>
            <a:ext cx="25420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Estatística, dedutiva, teste de hipótese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4818888" y="363931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Produto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6172200" y="3639312"/>
            <a:ext cx="25420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Confirmação/rejeição de hipótese, generalização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818888" y="426110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Exemplo 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6172200" y="4261104"/>
            <a:ext cx="25420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Survey, experimento controlado, quasi-experimento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Mixed Methods: combina as duas abordagens — quando a pergunta exige.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Survey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Grupo Focal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8C33"/>
                </a:solidFill>
                <a:latin typeface="Arial"/>
                <a:ea typeface="Arial"/>
                <a:cs typeface="Arial"/>
                <a:sym typeface="Arial"/>
              </a:rPr>
              <a:t>Quando cada um é a ferramenta certa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57200" y="3429000"/>
            <a:ext cx="137160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0A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LEITURA ATIVA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— Survey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Artigo distribuído sobre Survey em Engenharia de Software.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365760" y="166420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Enquanto lê, responda: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320040" y="2084832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320040" y="2084832"/>
            <a:ext cx="173736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320040" y="2084832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Pergunta adequada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2167128" y="2084832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tipo de pergunta de pesquisa esse método responde melhor?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320040" y="2752344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320040" y="2752344"/>
            <a:ext cx="173736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320040" y="2752344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Quando NÃO usar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2167128" y="2752344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 que situações um survey seria inadequado?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320040" y="3419856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320040" y="3419856"/>
            <a:ext cx="173736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320040" y="3419856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Amostragem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2167128" y="3419856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Como o autor define e justifica quem participou?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320040" y="4087368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320040" y="4087368"/>
            <a:ext cx="173736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320040" y="4087368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Validade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2167128" y="4087368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o autor faz para garantir que os resultados são confiáveis?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2 — SURVEY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Survey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365760" y="120700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"Coleta de dados de uma amostra para descrever ou explicar fenômenos de uma população."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320040" y="1737360"/>
            <a:ext cx="4114800" cy="31546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320040" y="1737360"/>
            <a:ext cx="4114800" cy="384048"/>
          </a:xfrm>
          <a:prstGeom prst="rect">
            <a:avLst/>
          </a:prstGeom>
          <a:solidFill>
            <a:srgbClr val="0E6655"/>
          </a:solidFill>
          <a:ln cap="flat" cmpd="sng" w="12700">
            <a:solidFill>
              <a:srgbClr val="0E66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320040" y="1737360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Quando usar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457200" y="2231136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 Descrever práticas, opiniões ou comportamentos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457200" y="285292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✓  Medir prevalência de um fenômeno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457200" y="347472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 Explorar relações entre variáveis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457200" y="4096512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✓  Grande amostra necessária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4709160" y="1737360"/>
            <a:ext cx="4114800" cy="31546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4709160" y="1737360"/>
            <a:ext cx="4114800" cy="384048"/>
          </a:xfrm>
          <a:prstGeom prst="rect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4709160" y="1737360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Quando NÃO usar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4846320" y="2231136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✗  Pergunta exige profundidade (por quê?)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4846320" y="285292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✗  Fenômeno não observável por autorrelato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4846320" y="347472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✗  Amostra pequena ou inacessível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4846320" y="4096512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✗  Causalidade como objetivo principal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Exemplo ES: "Quais práticas de teste são adotadas por empresas de software no Brasil?"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0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LEITURA ATIVA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— Grupo Focal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Artigo distribuído sobre Grupo Focal em 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365760" y="166420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Mesmas perguntas: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320040" y="2084832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320040" y="2084832"/>
            <a:ext cx="173736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320040" y="2084832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Pergunta adequada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2167128" y="2084832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tipo de pergunta esse método responde melhor?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320040" y="2752344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320040" y="2752344"/>
            <a:ext cx="173736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320040" y="2752344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Quando NÃO usar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2167128" y="2752344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 que situações um grupo focal seria inadequado?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320040" y="3419856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320040" y="3419856"/>
            <a:ext cx="173736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320040" y="3419856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Papel do moderador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2167128" y="3419856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Como o pesquisador conduz a sessão? Que cuidados toma?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320040" y="4087368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320040" y="4087368"/>
            <a:ext cx="173736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320040" y="4087368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Diferença da entrevista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2167128" y="4087368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o grupo focal entrega que uma entrevista individual não entrega?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2 — GRUPO FOCAL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Grupo Focal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365760" y="120700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"Discussão estruturada com um grupo selecionado para explorar percepções, opiniões e experiências."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320040" y="1719072"/>
            <a:ext cx="8503920" cy="47548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320040" y="1719072"/>
            <a:ext cx="54864" cy="47548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502920" y="1719072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O que entrega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2468880" y="1719072"/>
            <a:ext cx="6217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Perspectivas coletivas, dinâmica de grupo, consensos e divergências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320040" y="2267712"/>
            <a:ext cx="8503920" cy="47548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6"/>
          <p:cNvSpPr/>
          <p:nvPr/>
        </p:nvSpPr>
        <p:spPr>
          <a:xfrm>
            <a:off x="320040" y="2267712"/>
            <a:ext cx="54864" cy="47548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6"/>
          <p:cNvSpPr/>
          <p:nvPr/>
        </p:nvSpPr>
        <p:spPr>
          <a:xfrm>
            <a:off x="502920" y="2267712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Diferença da entrevista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2468880" y="2267712"/>
            <a:ext cx="6217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 interação entre participantes gera dados que entrevistas individuais não capturam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320040" y="2816352"/>
            <a:ext cx="8503920" cy="47548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320040" y="2816352"/>
            <a:ext cx="54864" cy="47548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502920" y="2816352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Papel do moderador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2468880" y="2816352"/>
            <a:ext cx="6217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Facilitar sem influenciar. Garantir que todos falem. Aprofundar divergências.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320040" y="3364992"/>
            <a:ext cx="8503920" cy="47548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6"/>
          <p:cNvSpPr/>
          <p:nvPr/>
        </p:nvSpPr>
        <p:spPr>
          <a:xfrm>
            <a:off x="320040" y="3364992"/>
            <a:ext cx="54864" cy="47548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502920" y="3364992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Tamanho ideal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2468880" y="3364992"/>
            <a:ext cx="6217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6 a 10 participantes por sessão. Mais de 2 sessões para saturação.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320040" y="3913632"/>
            <a:ext cx="8503920" cy="47548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320040" y="3913632"/>
            <a:ext cx="54864" cy="47548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502920" y="3913632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Ameaça principal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2468880" y="3913632"/>
            <a:ext cx="6217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Groupthink: pressão social inibe opiniões divergentes. Domínio de um participante.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320040" y="4462272"/>
            <a:ext cx="8503920" cy="47548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320040" y="4462272"/>
            <a:ext cx="54864" cy="47548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502920" y="4462272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Exemplo 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2468880" y="4462272"/>
            <a:ext cx="6217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Avaliar a aceitação de uma nova ferramenta com desenvolvedores de uma equipe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7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Pesquisa Experimental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Quasi-experimental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8C33"/>
                </a:solidFill>
                <a:latin typeface="Arial"/>
                <a:ea typeface="Arial"/>
                <a:cs typeface="Arial"/>
                <a:sym typeface="Arial"/>
              </a:rPr>
              <a:t>Controle, manipulação e validade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457200" y="3429000"/>
            <a:ext cx="137160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010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LEITURA ATIVA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— Pesquisa Experimental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8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Artigo distribuído sobre pesquisa experimental em 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365760" y="166420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Enquanto lê, identifique: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320040" y="2084832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8"/>
          <p:cNvSpPr/>
          <p:nvPr/>
        </p:nvSpPr>
        <p:spPr>
          <a:xfrm>
            <a:off x="320040" y="2084832"/>
            <a:ext cx="146304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320040" y="2084832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Controlado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1892808" y="2084832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o pesquisador manteve fixo (variáveis de controle)?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320040" y="2752344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8"/>
          <p:cNvSpPr/>
          <p:nvPr/>
        </p:nvSpPr>
        <p:spPr>
          <a:xfrm>
            <a:off x="320040" y="2752344"/>
            <a:ext cx="146304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8"/>
          <p:cNvSpPr/>
          <p:nvPr/>
        </p:nvSpPr>
        <p:spPr>
          <a:xfrm>
            <a:off x="320040" y="2752344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Manipulado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1892808" y="2752344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o pesquisador variou intencionalmente (variável independente)?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320040" y="3419856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8"/>
          <p:cNvSpPr/>
          <p:nvPr/>
        </p:nvSpPr>
        <p:spPr>
          <a:xfrm>
            <a:off x="320040" y="3419856"/>
            <a:ext cx="146304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8"/>
          <p:cNvSpPr/>
          <p:nvPr/>
        </p:nvSpPr>
        <p:spPr>
          <a:xfrm>
            <a:off x="320040" y="3419856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Medido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1892808" y="34198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foi observado como resultado (variável dependente)?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320040" y="4087368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8"/>
          <p:cNvSpPr/>
          <p:nvPr/>
        </p:nvSpPr>
        <p:spPr>
          <a:xfrm>
            <a:off x="320040" y="4087368"/>
            <a:ext cx="146304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8"/>
          <p:cNvSpPr/>
          <p:nvPr/>
        </p:nvSpPr>
        <p:spPr>
          <a:xfrm>
            <a:off x="320040" y="4087368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Ameaça à validade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1892808" y="4087368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ameaça o autor reconhece? Como tentou mitigar?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9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3 — EXPERIMENTO E QUASI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Experimento vs. Quasi-experimento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9"/>
          <p:cNvSpPr/>
          <p:nvPr/>
        </p:nvSpPr>
        <p:spPr>
          <a:xfrm>
            <a:off x="320040" y="1298448"/>
            <a:ext cx="4114800" cy="35661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9"/>
          <p:cNvSpPr/>
          <p:nvPr/>
        </p:nvSpPr>
        <p:spPr>
          <a:xfrm>
            <a:off x="320040" y="1298448"/>
            <a:ext cx="4114800" cy="384048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9"/>
          <p:cNvSpPr/>
          <p:nvPr/>
        </p:nvSpPr>
        <p:spPr>
          <a:xfrm>
            <a:off x="320040" y="129844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Experimento Controlado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429768" y="177393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1874520" y="1773936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Estabelecer relação de causalidade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429768" y="230428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Randomização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1874520" y="2304288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Participantes alocados aleatoriamente aos grupos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429768" y="28346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Controle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1874520" y="2834640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Variáveis de confusão controladas pelo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429768" y="336499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Validade interna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1874520" y="3364992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Alta — se bem desenhado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429768" y="389534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Limitação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1874520" y="3895344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Artificial. Difícil de replicar em contexto real de 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429768" y="442569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1874520" y="4425696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Técnica A vs. B para detecção de defeitos — estudantes alocados aleatoriamente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4709160" y="1298448"/>
            <a:ext cx="4114800" cy="35661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9"/>
          <p:cNvSpPr/>
          <p:nvPr/>
        </p:nvSpPr>
        <p:spPr>
          <a:xfrm>
            <a:off x="4709160" y="1298448"/>
            <a:ext cx="4114800" cy="384048"/>
          </a:xfrm>
          <a:prstGeom prst="rect">
            <a:avLst/>
          </a:prstGeom>
          <a:solidFill>
            <a:srgbClr val="6D0E0E"/>
          </a:solidFill>
          <a:ln cap="flat" cmpd="sng" w="12700">
            <a:solidFill>
              <a:srgbClr val="6D0E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9"/>
          <p:cNvSpPr/>
          <p:nvPr/>
        </p:nvSpPr>
        <p:spPr>
          <a:xfrm>
            <a:off x="4709160" y="129844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Quasi-experimento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9"/>
          <p:cNvSpPr/>
          <p:nvPr/>
        </p:nvSpPr>
        <p:spPr>
          <a:xfrm>
            <a:off x="4818888" y="177393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6263640" y="1773936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Causalidade quando randomização não é possível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4818888" y="230428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Grupos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6263640" y="2304288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Naturais (times, empresas, projetos existentes)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4818888" y="28346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Controle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6263640" y="2834640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Limitado — variáveis de confusão não totalmente controladas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4818888" y="336499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Validade externa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6263640" y="3364992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Maior — contexto mais realista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4818888" y="389534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Limitação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9"/>
          <p:cNvSpPr/>
          <p:nvPr/>
        </p:nvSpPr>
        <p:spPr>
          <a:xfrm>
            <a:off x="6263640" y="3895344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Validade interna comprometida pela falta de randomização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9"/>
          <p:cNvSpPr/>
          <p:nvPr/>
        </p:nvSpPr>
        <p:spPr>
          <a:xfrm>
            <a:off x="4818888" y="442569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6263640" y="4425696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Comparar produtividade antes/depois de adotar uma nova prática em uma empresa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0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3 — EXPERIMENTO E QUASI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Ameaças à Validade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0"/>
          <p:cNvSpPr/>
          <p:nvPr/>
        </p:nvSpPr>
        <p:spPr>
          <a:xfrm>
            <a:off x="365760" y="120700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Todo experimento tem ameaças. Reconhecê-las é sinal de maturidade científica — não de fraqueza.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320040" y="1664208"/>
            <a:ext cx="4206240" cy="14630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0"/>
          <p:cNvSpPr/>
          <p:nvPr/>
        </p:nvSpPr>
        <p:spPr>
          <a:xfrm>
            <a:off x="320040" y="1664208"/>
            <a:ext cx="4206240" cy="3200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0"/>
          <p:cNvSpPr/>
          <p:nvPr/>
        </p:nvSpPr>
        <p:spPr>
          <a:xfrm>
            <a:off x="320040" y="166420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Validade Interna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0"/>
          <p:cNvSpPr/>
          <p:nvPr/>
        </p:nvSpPr>
        <p:spPr>
          <a:xfrm>
            <a:off x="411480" y="202996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Os resultados realmente se devem ao tratamento? Ou há variáveis de confusão?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/>
          <p:nvPr/>
        </p:nvSpPr>
        <p:spPr>
          <a:xfrm>
            <a:off x="411480" y="2414016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· Maturação dos participantes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· Seleção tendenciosa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· História (eventos externos)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· Instrumentação (mudança de medida)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4754880" y="1664208"/>
            <a:ext cx="4206240" cy="14630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0"/>
          <p:cNvSpPr/>
          <p:nvPr/>
        </p:nvSpPr>
        <p:spPr>
          <a:xfrm>
            <a:off x="4754880" y="1664208"/>
            <a:ext cx="4206240" cy="3200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0"/>
          <p:cNvSpPr/>
          <p:nvPr/>
        </p:nvSpPr>
        <p:spPr>
          <a:xfrm>
            <a:off x="4754880" y="166420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Validade Externa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4846320" y="202996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Os resultados se generalizam para além do experimento?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4846320" y="2414016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· Estudantes ≠ profissionais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· Lab ≠ indústria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· Contexto único não representativo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0"/>
          <p:cNvSpPr/>
          <p:nvPr/>
        </p:nvSpPr>
        <p:spPr>
          <a:xfrm>
            <a:off x="320040" y="3236976"/>
            <a:ext cx="4206240" cy="14630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0"/>
          <p:cNvSpPr/>
          <p:nvPr/>
        </p:nvSpPr>
        <p:spPr>
          <a:xfrm>
            <a:off x="320040" y="3236976"/>
            <a:ext cx="4206240" cy="3200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0"/>
          <p:cNvSpPr/>
          <p:nvPr/>
        </p:nvSpPr>
        <p:spPr>
          <a:xfrm>
            <a:off x="320040" y="3236976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Validade de Constructo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411480" y="3602736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foi medido realmente representa o constructo teórico?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411480" y="3986784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· Operacionalização inadequada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· Expectativa do pesquisador influencia resultado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4754880" y="3236976"/>
            <a:ext cx="4206240" cy="146304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0"/>
          <p:cNvSpPr/>
          <p:nvPr/>
        </p:nvSpPr>
        <p:spPr>
          <a:xfrm>
            <a:off x="4754880" y="3236976"/>
            <a:ext cx="4206240" cy="3200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0"/>
          <p:cNvSpPr/>
          <p:nvPr/>
        </p:nvSpPr>
        <p:spPr>
          <a:xfrm>
            <a:off x="4754880" y="3236976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Validade de Conclusão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0"/>
          <p:cNvSpPr/>
          <p:nvPr/>
        </p:nvSpPr>
        <p:spPr>
          <a:xfrm>
            <a:off x="4846320" y="3602736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análise estatística suporta as conclusões?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0"/>
          <p:cNvSpPr/>
          <p:nvPr/>
        </p:nvSpPr>
        <p:spPr>
          <a:xfrm>
            <a:off x="4846320" y="3986784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· Tamanho de amostra insuficiente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· Teste estatístico inadequado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1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Science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(DSR)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1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8C33"/>
                </a:solidFill>
                <a:latin typeface="Arial"/>
                <a:ea typeface="Arial"/>
                <a:cs typeface="Arial"/>
                <a:sym typeface="Arial"/>
              </a:rPr>
              <a:t>Quando a pesquisa constrói algo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1"/>
          <p:cNvSpPr/>
          <p:nvPr/>
        </p:nvSpPr>
        <p:spPr>
          <a:xfrm>
            <a:off x="457200" y="3429000"/>
            <a:ext cx="137160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800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2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LEITURA ATIVA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— Design Science Research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2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2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Artigos distribuídos sobre DSR em Sistemas de Informação e Engenharia de Software.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2"/>
          <p:cNvSpPr/>
          <p:nvPr/>
        </p:nvSpPr>
        <p:spPr>
          <a:xfrm>
            <a:off x="365760" y="166420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Enquanto lê, responda: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2"/>
          <p:cNvSpPr/>
          <p:nvPr/>
        </p:nvSpPr>
        <p:spPr>
          <a:xfrm>
            <a:off x="320040" y="2084832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2"/>
          <p:cNvSpPr/>
          <p:nvPr/>
        </p:nvSpPr>
        <p:spPr>
          <a:xfrm>
            <a:off x="320040" y="2084832"/>
            <a:ext cx="146304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2"/>
          <p:cNvSpPr/>
          <p:nvPr/>
        </p:nvSpPr>
        <p:spPr>
          <a:xfrm>
            <a:off x="320040" y="2084832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O que foi construído?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2"/>
          <p:cNvSpPr/>
          <p:nvPr/>
        </p:nvSpPr>
        <p:spPr>
          <a:xfrm>
            <a:off x="1892808" y="2084832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 é o artefato produzido? (framework, método, ferramenta, modelo...)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2"/>
          <p:cNvSpPr/>
          <p:nvPr/>
        </p:nvSpPr>
        <p:spPr>
          <a:xfrm>
            <a:off x="320040" y="2752344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2"/>
          <p:cNvSpPr/>
          <p:nvPr/>
        </p:nvSpPr>
        <p:spPr>
          <a:xfrm>
            <a:off x="320040" y="2752344"/>
            <a:ext cx="146304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2"/>
          <p:cNvSpPr/>
          <p:nvPr/>
        </p:nvSpPr>
        <p:spPr>
          <a:xfrm>
            <a:off x="320040" y="2752344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Como foi avaliado?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2"/>
          <p:cNvSpPr/>
          <p:nvPr/>
        </p:nvSpPr>
        <p:spPr>
          <a:xfrm>
            <a:off x="1892808" y="2752344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Como o pesquisador demonstra que o artefato funciona ou é útil?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2"/>
          <p:cNvSpPr/>
          <p:nvPr/>
        </p:nvSpPr>
        <p:spPr>
          <a:xfrm>
            <a:off x="320040" y="3419856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2"/>
          <p:cNvSpPr/>
          <p:nvPr/>
        </p:nvSpPr>
        <p:spPr>
          <a:xfrm>
            <a:off x="320040" y="3419856"/>
            <a:ext cx="146304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2"/>
          <p:cNvSpPr/>
          <p:nvPr/>
        </p:nvSpPr>
        <p:spPr>
          <a:xfrm>
            <a:off x="320040" y="3419856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É pesquisa?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2"/>
          <p:cNvSpPr/>
          <p:nvPr/>
        </p:nvSpPr>
        <p:spPr>
          <a:xfrm>
            <a:off x="1892808" y="34198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que isso é pesquisa científica e não só desenvolvimento de software?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2"/>
          <p:cNvSpPr/>
          <p:nvPr/>
        </p:nvSpPr>
        <p:spPr>
          <a:xfrm>
            <a:off x="320040" y="4087368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2"/>
          <p:cNvSpPr/>
          <p:nvPr/>
        </p:nvSpPr>
        <p:spPr>
          <a:xfrm>
            <a:off x="320040" y="4087368"/>
            <a:ext cx="1463040" cy="56692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2"/>
          <p:cNvSpPr/>
          <p:nvPr/>
        </p:nvSpPr>
        <p:spPr>
          <a:xfrm>
            <a:off x="320040" y="4087368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Contribuição teórica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2"/>
          <p:cNvSpPr/>
          <p:nvPr/>
        </p:nvSpPr>
        <p:spPr>
          <a:xfrm>
            <a:off x="1892808" y="4087368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conhecimento generalizável esse trabalho gera além do artefato?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3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4 — DSR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3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Science Research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3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3"/>
          <p:cNvSpPr/>
          <p:nvPr/>
        </p:nvSpPr>
        <p:spPr>
          <a:xfrm>
            <a:off x="365760" y="120700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"Produz e avalia artefatos de TI para resolver problemas organizacionais identificados."  — Hevner et al. (2004)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3"/>
          <p:cNvSpPr/>
          <p:nvPr/>
        </p:nvSpPr>
        <p:spPr>
          <a:xfrm>
            <a:off x="320040" y="1719072"/>
            <a:ext cx="2788920" cy="31089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3"/>
          <p:cNvSpPr/>
          <p:nvPr/>
        </p:nvSpPr>
        <p:spPr>
          <a:xfrm>
            <a:off x="320040" y="1719072"/>
            <a:ext cx="2788920" cy="384048"/>
          </a:xfrm>
          <a:prstGeom prst="rect">
            <a:avLst/>
          </a:prstGeom>
          <a:solidFill>
            <a:srgbClr val="B7500A"/>
          </a:solidFill>
          <a:ln cap="flat" cmpd="sng" w="12700">
            <a:solidFill>
              <a:srgbClr val="B750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3"/>
          <p:cNvSpPr/>
          <p:nvPr/>
        </p:nvSpPr>
        <p:spPr>
          <a:xfrm>
            <a:off x="320040" y="1719072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é artefato?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3"/>
          <p:cNvSpPr/>
          <p:nvPr/>
        </p:nvSpPr>
        <p:spPr>
          <a:xfrm>
            <a:off x="429768" y="2194560"/>
            <a:ext cx="256032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Construtos (vocabulário, símbolos)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Modelos (abstrações, representações)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Métodos (algoritmos, práticas)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Instanciações (sistemas implementados)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3"/>
          <p:cNvSpPr/>
          <p:nvPr/>
        </p:nvSpPr>
        <p:spPr>
          <a:xfrm>
            <a:off x="3246120" y="1719072"/>
            <a:ext cx="2788920" cy="31089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3"/>
          <p:cNvSpPr/>
          <p:nvPr/>
        </p:nvSpPr>
        <p:spPr>
          <a:xfrm>
            <a:off x="3246120" y="1719072"/>
            <a:ext cx="2788920" cy="384048"/>
          </a:xfrm>
          <a:prstGeom prst="rect">
            <a:avLst/>
          </a:prstGeom>
          <a:solidFill>
            <a:srgbClr val="B7500A"/>
          </a:solidFill>
          <a:ln cap="flat" cmpd="sng" w="12700">
            <a:solidFill>
              <a:srgbClr val="B750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3"/>
          <p:cNvSpPr/>
          <p:nvPr/>
        </p:nvSpPr>
        <p:spPr>
          <a:xfrm>
            <a:off x="3246120" y="1719072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Os 3 Ciclos de Hevner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3"/>
          <p:cNvSpPr/>
          <p:nvPr/>
        </p:nvSpPr>
        <p:spPr>
          <a:xfrm>
            <a:off x="3355848" y="2194560"/>
            <a:ext cx="256032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Ciclo de Relevância: problema do mundo real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Ciclo de Design: construção e avaliação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Ciclo de Rigor: base de conhecimento científico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3"/>
          <p:cNvSpPr/>
          <p:nvPr/>
        </p:nvSpPr>
        <p:spPr>
          <a:xfrm>
            <a:off x="6172200" y="1719072"/>
            <a:ext cx="2788920" cy="310896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3"/>
          <p:cNvSpPr/>
          <p:nvPr/>
        </p:nvSpPr>
        <p:spPr>
          <a:xfrm>
            <a:off x="6172200" y="1719072"/>
            <a:ext cx="2788920" cy="384048"/>
          </a:xfrm>
          <a:prstGeom prst="rect">
            <a:avLst/>
          </a:prstGeom>
          <a:solidFill>
            <a:srgbClr val="B7500A"/>
          </a:solidFill>
          <a:ln cap="flat" cmpd="sng" w="12700">
            <a:solidFill>
              <a:srgbClr val="B750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3"/>
          <p:cNvSpPr/>
          <p:nvPr/>
        </p:nvSpPr>
        <p:spPr>
          <a:xfrm>
            <a:off x="6172200" y="1719072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DSR vs. Desenvolvimento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3"/>
          <p:cNvSpPr/>
          <p:nvPr/>
        </p:nvSpPr>
        <p:spPr>
          <a:xfrm>
            <a:off x="6281928" y="2194560"/>
            <a:ext cx="256032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Gera conhecimento generalizável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Avalia rigorosamente o artefato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Contribui para a teoria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Não basta funcionar — precisa explicar por quê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4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Escolha e Justificativa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 Método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4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8C33"/>
                </a:solidFill>
                <a:latin typeface="Arial"/>
                <a:ea typeface="Arial"/>
                <a:cs typeface="Arial"/>
                <a:sym typeface="Arial"/>
              </a:rPr>
              <a:t>Agora é sobre o seu trabalho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4"/>
          <p:cNvSpPr/>
          <p:nvPr/>
        </p:nvSpPr>
        <p:spPr>
          <a:xfrm>
            <a:off x="457200" y="3429000"/>
            <a:ext cx="137160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5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5 — ESCOLHA DO MÉTODO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5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Mapa dos Métodos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5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5"/>
          <p:cNvSpPr/>
          <p:nvPr/>
        </p:nvSpPr>
        <p:spPr>
          <a:xfrm>
            <a:off x="365760" y="120700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Problema → Pergunta → Método → Produto esperado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5"/>
          <p:cNvSpPr/>
          <p:nvPr/>
        </p:nvSpPr>
        <p:spPr>
          <a:xfrm>
            <a:off x="320040" y="1572768"/>
            <a:ext cx="8503920" cy="32918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5"/>
          <p:cNvSpPr/>
          <p:nvPr/>
        </p:nvSpPr>
        <p:spPr>
          <a:xfrm>
            <a:off x="320040" y="157276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Survey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5"/>
          <p:cNvSpPr/>
          <p:nvPr/>
        </p:nvSpPr>
        <p:spPr>
          <a:xfrm>
            <a:off x="1874520" y="157276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Quali+Quanti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5"/>
          <p:cNvSpPr/>
          <p:nvPr/>
        </p:nvSpPr>
        <p:spPr>
          <a:xfrm>
            <a:off x="3154680" y="1572768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Descrever/medir prática, opinião ou prevalência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5"/>
          <p:cNvSpPr/>
          <p:nvPr/>
        </p:nvSpPr>
        <p:spPr>
          <a:xfrm>
            <a:off x="6446520" y="157276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Distribuição, prevalência, correlação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5"/>
          <p:cNvSpPr/>
          <p:nvPr/>
        </p:nvSpPr>
        <p:spPr>
          <a:xfrm>
            <a:off x="320040" y="1938528"/>
            <a:ext cx="8503920" cy="32918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5"/>
          <p:cNvSpPr/>
          <p:nvPr/>
        </p:nvSpPr>
        <p:spPr>
          <a:xfrm>
            <a:off x="320040" y="193852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Grupo Focal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5"/>
          <p:cNvSpPr/>
          <p:nvPr/>
        </p:nvSpPr>
        <p:spPr>
          <a:xfrm>
            <a:off x="1874520" y="193852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Qualitativa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3154680" y="1938528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Explorar percepções e experiências coletivas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5"/>
          <p:cNvSpPr/>
          <p:nvPr/>
        </p:nvSpPr>
        <p:spPr>
          <a:xfrm>
            <a:off x="6446520" y="19385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Categorias, temas, consensos/divergências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5"/>
          <p:cNvSpPr/>
          <p:nvPr/>
        </p:nvSpPr>
        <p:spPr>
          <a:xfrm>
            <a:off x="320040" y="2304288"/>
            <a:ext cx="8503920" cy="32918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5"/>
          <p:cNvSpPr/>
          <p:nvPr/>
        </p:nvSpPr>
        <p:spPr>
          <a:xfrm>
            <a:off x="320040" y="230428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Experimento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5"/>
          <p:cNvSpPr/>
          <p:nvPr/>
        </p:nvSpPr>
        <p:spPr>
          <a:xfrm>
            <a:off x="1874520" y="230428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Quantitativa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5"/>
          <p:cNvSpPr/>
          <p:nvPr/>
        </p:nvSpPr>
        <p:spPr>
          <a:xfrm>
            <a:off x="3154680" y="2304288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Estabelecer causalidade com controle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5"/>
          <p:cNvSpPr/>
          <p:nvPr/>
        </p:nvSpPr>
        <p:spPr>
          <a:xfrm>
            <a:off x="6446520" y="230428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Confirmação/rejeição de hipótese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5"/>
          <p:cNvSpPr/>
          <p:nvPr/>
        </p:nvSpPr>
        <p:spPr>
          <a:xfrm>
            <a:off x="320040" y="2670048"/>
            <a:ext cx="8503920" cy="32918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5"/>
          <p:cNvSpPr/>
          <p:nvPr/>
        </p:nvSpPr>
        <p:spPr>
          <a:xfrm>
            <a:off x="320040" y="267004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Quasi-experimento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5"/>
          <p:cNvSpPr/>
          <p:nvPr/>
        </p:nvSpPr>
        <p:spPr>
          <a:xfrm>
            <a:off x="1874520" y="267004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Quantitativa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5"/>
          <p:cNvSpPr/>
          <p:nvPr/>
        </p:nvSpPr>
        <p:spPr>
          <a:xfrm>
            <a:off x="3154680" y="2670048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Causalidade sem randomização possível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5"/>
          <p:cNvSpPr/>
          <p:nvPr/>
        </p:nvSpPr>
        <p:spPr>
          <a:xfrm>
            <a:off x="6446520" y="267004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Evidência causal em contexto real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5"/>
          <p:cNvSpPr/>
          <p:nvPr/>
        </p:nvSpPr>
        <p:spPr>
          <a:xfrm>
            <a:off x="320040" y="3035808"/>
            <a:ext cx="8503920" cy="32918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5"/>
          <p:cNvSpPr/>
          <p:nvPr/>
        </p:nvSpPr>
        <p:spPr>
          <a:xfrm>
            <a:off x="320040" y="303580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DSR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5"/>
          <p:cNvSpPr/>
          <p:nvPr/>
        </p:nvSpPr>
        <p:spPr>
          <a:xfrm>
            <a:off x="1874520" y="303580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Quali+Quanti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5"/>
          <p:cNvSpPr/>
          <p:nvPr/>
        </p:nvSpPr>
        <p:spPr>
          <a:xfrm>
            <a:off x="3154680" y="3035808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Construir e avaliar artefato para problema real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5"/>
          <p:cNvSpPr/>
          <p:nvPr/>
        </p:nvSpPr>
        <p:spPr>
          <a:xfrm>
            <a:off x="6446520" y="303580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Artefato + conhecimento generalizável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5"/>
          <p:cNvSpPr/>
          <p:nvPr/>
        </p:nvSpPr>
        <p:spPr>
          <a:xfrm>
            <a:off x="320040" y="3401568"/>
            <a:ext cx="8503920" cy="32918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5"/>
          <p:cNvSpPr/>
          <p:nvPr/>
        </p:nvSpPr>
        <p:spPr>
          <a:xfrm>
            <a:off x="320040" y="340156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Estudo de caso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5"/>
          <p:cNvSpPr/>
          <p:nvPr/>
        </p:nvSpPr>
        <p:spPr>
          <a:xfrm>
            <a:off x="1874520" y="340156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Qualitativa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5"/>
          <p:cNvSpPr/>
          <p:nvPr/>
        </p:nvSpPr>
        <p:spPr>
          <a:xfrm>
            <a:off x="3154680" y="3401568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Entender fenômeno em contexto real e complexo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5"/>
          <p:cNvSpPr/>
          <p:nvPr/>
        </p:nvSpPr>
        <p:spPr>
          <a:xfrm>
            <a:off x="6446520" y="340156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Teoria explicativa, lições aprendidas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5"/>
          <p:cNvSpPr/>
          <p:nvPr/>
        </p:nvSpPr>
        <p:spPr>
          <a:xfrm>
            <a:off x="320040" y="3767328"/>
            <a:ext cx="8503920" cy="32918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5"/>
          <p:cNvSpPr/>
          <p:nvPr/>
        </p:nvSpPr>
        <p:spPr>
          <a:xfrm>
            <a:off x="320040" y="376732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Etnografia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5"/>
          <p:cNvSpPr/>
          <p:nvPr/>
        </p:nvSpPr>
        <p:spPr>
          <a:xfrm>
            <a:off x="1874520" y="376732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Qualitativa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5"/>
          <p:cNvSpPr/>
          <p:nvPr/>
        </p:nvSpPr>
        <p:spPr>
          <a:xfrm>
            <a:off x="3154680" y="3767328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Observar práticas in-loco de longa duração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5"/>
          <p:cNvSpPr/>
          <p:nvPr/>
        </p:nvSpPr>
        <p:spPr>
          <a:xfrm>
            <a:off x="6446520" y="37673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Compreensão profunda de cultura/prática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5"/>
          <p:cNvSpPr/>
          <p:nvPr/>
        </p:nvSpPr>
        <p:spPr>
          <a:xfrm>
            <a:off x="320040" y="4133088"/>
            <a:ext cx="8503920" cy="32918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5"/>
          <p:cNvSpPr/>
          <p:nvPr/>
        </p:nvSpPr>
        <p:spPr>
          <a:xfrm>
            <a:off x="320040" y="413308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RSL / SMS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5"/>
          <p:cNvSpPr/>
          <p:nvPr/>
        </p:nvSpPr>
        <p:spPr>
          <a:xfrm>
            <a:off x="1874520" y="413308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Quali+Quanti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5"/>
          <p:cNvSpPr/>
          <p:nvPr/>
        </p:nvSpPr>
        <p:spPr>
          <a:xfrm>
            <a:off x="3154680" y="4133088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Mapear e sintetizar evidências existentes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5"/>
          <p:cNvSpPr/>
          <p:nvPr/>
        </p:nvSpPr>
        <p:spPr>
          <a:xfrm>
            <a:off x="6446520" y="413308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Síntese de evidências, gaps de pesquisa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5"/>
          <p:cNvSpPr/>
          <p:nvPr/>
        </p:nvSpPr>
        <p:spPr>
          <a:xfrm>
            <a:off x="320040" y="4498848"/>
            <a:ext cx="8503920" cy="329184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5"/>
          <p:cNvSpPr/>
          <p:nvPr/>
        </p:nvSpPr>
        <p:spPr>
          <a:xfrm>
            <a:off x="320040" y="449884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Pesquisa-ação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5"/>
          <p:cNvSpPr/>
          <p:nvPr/>
        </p:nvSpPr>
        <p:spPr>
          <a:xfrm>
            <a:off x="1874520" y="449884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Qualitativa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5"/>
          <p:cNvSpPr/>
          <p:nvPr/>
        </p:nvSpPr>
        <p:spPr>
          <a:xfrm>
            <a:off x="3154680" y="4498848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Resolver problema real com participação dos envolvidos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5"/>
          <p:cNvSpPr/>
          <p:nvPr/>
        </p:nvSpPr>
        <p:spPr>
          <a:xfrm>
            <a:off x="6446520" y="449884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Mudança + conhecimento gerado na 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5"/>
          <p:cNvSpPr/>
          <p:nvPr/>
        </p:nvSpPr>
        <p:spPr>
          <a:xfrm>
            <a:off x="320040" y="1444752"/>
            <a:ext cx="8503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Método          Abordagem          Pergunta adequada          Produto esperado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0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6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INDIVIDUAL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6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Escolha o método do seu trabalho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6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6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Preencha individualmente — você vai apresentar em 3 minutos: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6"/>
          <p:cNvSpPr/>
          <p:nvPr/>
        </p:nvSpPr>
        <p:spPr>
          <a:xfrm>
            <a:off x="320040" y="1664208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6"/>
          <p:cNvSpPr/>
          <p:nvPr/>
        </p:nvSpPr>
        <p:spPr>
          <a:xfrm>
            <a:off x="320040" y="1664208"/>
            <a:ext cx="54864" cy="56692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6"/>
          <p:cNvSpPr/>
          <p:nvPr/>
        </p:nvSpPr>
        <p:spPr>
          <a:xfrm>
            <a:off x="502920" y="171907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Meu problema de pesquisa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6"/>
          <p:cNvSpPr/>
          <p:nvPr/>
        </p:nvSpPr>
        <p:spPr>
          <a:xfrm>
            <a:off x="502920" y="1975104"/>
            <a:ext cx="7909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Em uma frase: qual problema você está investigando?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6"/>
          <p:cNvSpPr/>
          <p:nvPr/>
        </p:nvSpPr>
        <p:spPr>
          <a:xfrm>
            <a:off x="320040" y="2322576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6"/>
          <p:cNvSpPr/>
          <p:nvPr/>
        </p:nvSpPr>
        <p:spPr>
          <a:xfrm>
            <a:off x="320040" y="2322576"/>
            <a:ext cx="54864" cy="56692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6"/>
          <p:cNvSpPr/>
          <p:nvPr/>
        </p:nvSpPr>
        <p:spPr>
          <a:xfrm>
            <a:off x="502920" y="237744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Minha pergunta de pesquisa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6"/>
          <p:cNvSpPr/>
          <p:nvPr/>
        </p:nvSpPr>
        <p:spPr>
          <a:xfrm>
            <a:off x="502920" y="2633472"/>
            <a:ext cx="7909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Que pergunta guia o seu trabalho? (Descritiva? Relacional? Causal? De design?)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320040" y="2980944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6"/>
          <p:cNvSpPr/>
          <p:nvPr/>
        </p:nvSpPr>
        <p:spPr>
          <a:xfrm>
            <a:off x="320040" y="2980944"/>
            <a:ext cx="54864" cy="56692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6"/>
          <p:cNvSpPr/>
          <p:nvPr/>
        </p:nvSpPr>
        <p:spPr>
          <a:xfrm>
            <a:off x="502920" y="303580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Método adequado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6"/>
          <p:cNvSpPr/>
          <p:nvPr/>
        </p:nvSpPr>
        <p:spPr>
          <a:xfrm>
            <a:off x="502920" y="3291840"/>
            <a:ext cx="7909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Qual método responderia melhor à sua pergunta? Por quê?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6"/>
          <p:cNvSpPr/>
          <p:nvPr/>
        </p:nvSpPr>
        <p:spPr>
          <a:xfrm>
            <a:off x="320040" y="3639312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6"/>
          <p:cNvSpPr/>
          <p:nvPr/>
        </p:nvSpPr>
        <p:spPr>
          <a:xfrm>
            <a:off x="320040" y="3639312"/>
            <a:ext cx="54864" cy="56692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6"/>
          <p:cNvSpPr/>
          <p:nvPr/>
        </p:nvSpPr>
        <p:spPr>
          <a:xfrm>
            <a:off x="502920" y="369417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O que eu precisaria fazer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6"/>
          <p:cNvSpPr/>
          <p:nvPr/>
        </p:nvSpPr>
        <p:spPr>
          <a:xfrm>
            <a:off x="502920" y="3950208"/>
            <a:ext cx="7909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Que passos práticos esse método exige no seu contexto?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6"/>
          <p:cNvSpPr/>
          <p:nvPr/>
        </p:nvSpPr>
        <p:spPr>
          <a:xfrm>
            <a:off x="320040" y="4297680"/>
            <a:ext cx="8503920" cy="566928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6"/>
          <p:cNvSpPr/>
          <p:nvPr/>
        </p:nvSpPr>
        <p:spPr>
          <a:xfrm>
            <a:off x="320040" y="4297680"/>
            <a:ext cx="54864" cy="566928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6"/>
          <p:cNvSpPr/>
          <p:nvPr/>
        </p:nvSpPr>
        <p:spPr>
          <a:xfrm>
            <a:off x="502920" y="4352544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Minha maior dúvida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6"/>
          <p:cNvSpPr/>
          <p:nvPr/>
        </p:nvSpPr>
        <p:spPr>
          <a:xfrm>
            <a:off x="502920" y="4608576"/>
            <a:ext cx="7909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que ainda não está claro sobre a adequação do método ao seu trabalho?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0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7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ATIVIDADE — APRESENTAÇÃO E DEBATE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7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Defenda a sua escolha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7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7"/>
          <p:cNvSpPr/>
          <p:nvPr/>
        </p:nvSpPr>
        <p:spPr>
          <a:xfrm>
            <a:off x="365760" y="12344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Cada aluno apresenta em 3 minutos: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7"/>
          <p:cNvSpPr/>
          <p:nvPr/>
        </p:nvSpPr>
        <p:spPr>
          <a:xfrm>
            <a:off x="320040" y="1645920"/>
            <a:ext cx="8503920" cy="6400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7"/>
          <p:cNvSpPr/>
          <p:nvPr/>
        </p:nvSpPr>
        <p:spPr>
          <a:xfrm>
            <a:off x="320040" y="1645920"/>
            <a:ext cx="502920" cy="64008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7"/>
          <p:cNvSpPr/>
          <p:nvPr/>
        </p:nvSpPr>
        <p:spPr>
          <a:xfrm>
            <a:off x="320040" y="1645920"/>
            <a:ext cx="502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7"/>
          <p:cNvSpPr/>
          <p:nvPr/>
        </p:nvSpPr>
        <p:spPr>
          <a:xfrm>
            <a:off x="960120" y="16459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 é o meu problema de pesquisa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7"/>
          <p:cNvSpPr/>
          <p:nvPr/>
        </p:nvSpPr>
        <p:spPr>
          <a:xfrm>
            <a:off x="320040" y="2359152"/>
            <a:ext cx="8503920" cy="6400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7"/>
          <p:cNvSpPr/>
          <p:nvPr/>
        </p:nvSpPr>
        <p:spPr>
          <a:xfrm>
            <a:off x="320040" y="2359152"/>
            <a:ext cx="502920" cy="64008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7"/>
          <p:cNvSpPr/>
          <p:nvPr/>
        </p:nvSpPr>
        <p:spPr>
          <a:xfrm>
            <a:off x="320040" y="2359152"/>
            <a:ext cx="502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7"/>
          <p:cNvSpPr/>
          <p:nvPr/>
        </p:nvSpPr>
        <p:spPr>
          <a:xfrm>
            <a:off x="960120" y="2359152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 método eu escolhi e por quê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7"/>
          <p:cNvSpPr/>
          <p:nvPr/>
        </p:nvSpPr>
        <p:spPr>
          <a:xfrm>
            <a:off x="320040" y="3072384"/>
            <a:ext cx="8503920" cy="6400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7"/>
          <p:cNvSpPr/>
          <p:nvPr/>
        </p:nvSpPr>
        <p:spPr>
          <a:xfrm>
            <a:off x="320040" y="3072384"/>
            <a:ext cx="502920" cy="64008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7"/>
          <p:cNvSpPr/>
          <p:nvPr/>
        </p:nvSpPr>
        <p:spPr>
          <a:xfrm>
            <a:off x="320040" y="3072384"/>
            <a:ext cx="502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7"/>
          <p:cNvSpPr/>
          <p:nvPr/>
        </p:nvSpPr>
        <p:spPr>
          <a:xfrm>
            <a:off x="960120" y="3072384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esse método exige de mim na prática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7"/>
          <p:cNvSpPr/>
          <p:nvPr/>
        </p:nvSpPr>
        <p:spPr>
          <a:xfrm>
            <a:off x="320040" y="3858768"/>
            <a:ext cx="8503920" cy="59436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7"/>
          <p:cNvSpPr/>
          <p:nvPr/>
        </p:nvSpPr>
        <p:spPr>
          <a:xfrm>
            <a:off x="502920" y="39044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Feedback dos colegas e do professor: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7"/>
          <p:cNvSpPr/>
          <p:nvPr/>
        </p:nvSpPr>
        <p:spPr>
          <a:xfrm>
            <a:off x="502920" y="41330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método é adequado para a pergunta? A justificativa está clara? Há alternativa mais adequada?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8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5 — ESCOLHA DO MÉTODO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8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Armadilhas na Escolha do Método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8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8"/>
          <p:cNvSpPr/>
          <p:nvPr/>
        </p:nvSpPr>
        <p:spPr>
          <a:xfrm>
            <a:off x="320040" y="1325880"/>
            <a:ext cx="8503920" cy="6400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8"/>
          <p:cNvSpPr/>
          <p:nvPr/>
        </p:nvSpPr>
        <p:spPr>
          <a:xfrm>
            <a:off x="320040" y="1325880"/>
            <a:ext cx="54864" cy="640080"/>
          </a:xfrm>
          <a:prstGeom prst="rect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8"/>
          <p:cNvSpPr/>
          <p:nvPr/>
        </p:nvSpPr>
        <p:spPr>
          <a:xfrm>
            <a:off x="502920" y="138074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Método pela facilidade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8"/>
          <p:cNvSpPr/>
          <p:nvPr/>
        </p:nvSpPr>
        <p:spPr>
          <a:xfrm>
            <a:off x="502920" y="1673352"/>
            <a:ext cx="7909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Escolher o que parece mais fácil de executar, não o que responde melhor à pergunta.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8"/>
          <p:cNvSpPr/>
          <p:nvPr/>
        </p:nvSpPr>
        <p:spPr>
          <a:xfrm>
            <a:off x="320040" y="2057400"/>
            <a:ext cx="8503920" cy="6400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8"/>
          <p:cNvSpPr/>
          <p:nvPr/>
        </p:nvSpPr>
        <p:spPr>
          <a:xfrm>
            <a:off x="320040" y="2057400"/>
            <a:ext cx="54864" cy="640080"/>
          </a:xfrm>
          <a:prstGeom prst="rect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8"/>
          <p:cNvSpPr/>
          <p:nvPr/>
        </p:nvSpPr>
        <p:spPr>
          <a:xfrm>
            <a:off x="502920" y="211226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Método pelo orientador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8"/>
          <p:cNvSpPr/>
          <p:nvPr/>
        </p:nvSpPr>
        <p:spPr>
          <a:xfrm>
            <a:off x="502920" y="2404872"/>
            <a:ext cx="7909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"Meu orientador usa survey, então vou usar survey." A pergunta é sua — a escolha também.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8"/>
          <p:cNvSpPr/>
          <p:nvPr/>
        </p:nvSpPr>
        <p:spPr>
          <a:xfrm>
            <a:off x="320040" y="2788920"/>
            <a:ext cx="8503920" cy="6400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8"/>
          <p:cNvSpPr/>
          <p:nvPr/>
        </p:nvSpPr>
        <p:spPr>
          <a:xfrm>
            <a:off x="320040" y="2788920"/>
            <a:ext cx="54864" cy="640080"/>
          </a:xfrm>
          <a:prstGeom prst="rect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8"/>
          <p:cNvSpPr/>
          <p:nvPr/>
        </p:nvSpPr>
        <p:spPr>
          <a:xfrm>
            <a:off x="502920" y="284378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Método pela moda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8"/>
          <p:cNvSpPr/>
          <p:nvPr/>
        </p:nvSpPr>
        <p:spPr>
          <a:xfrm>
            <a:off x="502920" y="3136392"/>
            <a:ext cx="7909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DSR está em alta em ES. Isso não significa que serve para o seu problema.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8"/>
          <p:cNvSpPr/>
          <p:nvPr/>
        </p:nvSpPr>
        <p:spPr>
          <a:xfrm>
            <a:off x="320040" y="3520440"/>
            <a:ext cx="8503920" cy="6400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28"/>
          <p:cNvSpPr/>
          <p:nvPr/>
        </p:nvSpPr>
        <p:spPr>
          <a:xfrm>
            <a:off x="320040" y="3520440"/>
            <a:ext cx="54864" cy="640080"/>
          </a:xfrm>
          <a:prstGeom prst="rect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8"/>
          <p:cNvSpPr/>
          <p:nvPr/>
        </p:nvSpPr>
        <p:spPr>
          <a:xfrm>
            <a:off x="502920" y="357530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 construído ao contrário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8"/>
          <p:cNvSpPr/>
          <p:nvPr/>
        </p:nvSpPr>
        <p:spPr>
          <a:xfrm>
            <a:off x="502920" y="3867912"/>
            <a:ext cx="7909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Definir o método antes do problema e depois forçar o problema a caber no método.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8"/>
          <p:cNvSpPr/>
          <p:nvPr/>
        </p:nvSpPr>
        <p:spPr>
          <a:xfrm>
            <a:off x="320040" y="4251960"/>
            <a:ext cx="8503920" cy="6400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8"/>
          <p:cNvSpPr/>
          <p:nvPr/>
        </p:nvSpPr>
        <p:spPr>
          <a:xfrm>
            <a:off x="320040" y="4251960"/>
            <a:ext cx="54864" cy="640080"/>
          </a:xfrm>
          <a:prstGeom prst="rect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8"/>
          <p:cNvSpPr/>
          <p:nvPr/>
        </p:nvSpPr>
        <p:spPr>
          <a:xfrm>
            <a:off x="502920" y="430682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Justificativa genérica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8"/>
          <p:cNvSpPr/>
          <p:nvPr/>
        </p:nvSpPr>
        <p:spPr>
          <a:xfrm>
            <a:off x="502920" y="4599432"/>
            <a:ext cx="7909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"Usei survey porque é quantitativo e permite generalização" não justifica nada sem conexão com a pergunta.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9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9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Estrutura da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Pesquisa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9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8C33"/>
                </a:solidFill>
                <a:latin typeface="Arial"/>
                <a:ea typeface="Arial"/>
                <a:cs typeface="Arial"/>
                <a:sym typeface="Arial"/>
              </a:rPr>
              <a:t>Como escrever a seção de metodologia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9"/>
          <p:cNvSpPr/>
          <p:nvPr/>
        </p:nvSpPr>
        <p:spPr>
          <a:xfrm>
            <a:off x="457200" y="3429000"/>
            <a:ext cx="137160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0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BLOCO 6 — ESTRUTURA DA PESQUISA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0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Seção de Metodologia na Dissertação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0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0"/>
          <p:cNvSpPr/>
          <p:nvPr/>
        </p:nvSpPr>
        <p:spPr>
          <a:xfrm>
            <a:off x="365760" y="120700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que a banca espera encontrar — e na que ordem: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0"/>
          <p:cNvSpPr/>
          <p:nvPr/>
        </p:nvSpPr>
        <p:spPr>
          <a:xfrm>
            <a:off x="320040" y="1572768"/>
            <a:ext cx="8503920" cy="43891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0"/>
          <p:cNvSpPr/>
          <p:nvPr/>
        </p:nvSpPr>
        <p:spPr>
          <a:xfrm>
            <a:off x="320040" y="1572768"/>
            <a:ext cx="384048" cy="43891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0"/>
          <p:cNvSpPr/>
          <p:nvPr/>
        </p:nvSpPr>
        <p:spPr>
          <a:xfrm>
            <a:off x="320040" y="1572768"/>
            <a:ext cx="3840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0"/>
          <p:cNvSpPr/>
          <p:nvPr/>
        </p:nvSpPr>
        <p:spPr>
          <a:xfrm>
            <a:off x="822960" y="1572768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Caracterização da pesquisa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0"/>
          <p:cNvSpPr/>
          <p:nvPr/>
        </p:nvSpPr>
        <p:spPr>
          <a:xfrm>
            <a:off x="2926080" y="1572768"/>
            <a:ext cx="5806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Tipo (quali/quanti/mista), natureza (aplicada/básica), objetivo (exploratória/descritiva/explicativa)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0"/>
          <p:cNvSpPr/>
          <p:nvPr/>
        </p:nvSpPr>
        <p:spPr>
          <a:xfrm>
            <a:off x="320040" y="2066544"/>
            <a:ext cx="8503920" cy="43891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0"/>
          <p:cNvSpPr/>
          <p:nvPr/>
        </p:nvSpPr>
        <p:spPr>
          <a:xfrm>
            <a:off x="320040" y="2066544"/>
            <a:ext cx="384048" cy="43891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0"/>
          <p:cNvSpPr/>
          <p:nvPr/>
        </p:nvSpPr>
        <p:spPr>
          <a:xfrm>
            <a:off x="320040" y="2066544"/>
            <a:ext cx="3840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0"/>
          <p:cNvSpPr/>
          <p:nvPr/>
        </p:nvSpPr>
        <p:spPr>
          <a:xfrm>
            <a:off x="822960" y="2066544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Método selecionado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0"/>
          <p:cNvSpPr/>
          <p:nvPr/>
        </p:nvSpPr>
        <p:spPr>
          <a:xfrm>
            <a:off x="2926080" y="2066544"/>
            <a:ext cx="5806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Qual método, fundamentado em referência. Não basta nomear — precisa justificar.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0"/>
          <p:cNvSpPr/>
          <p:nvPr/>
        </p:nvSpPr>
        <p:spPr>
          <a:xfrm>
            <a:off x="320040" y="2560320"/>
            <a:ext cx="8503920" cy="43891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0"/>
          <p:cNvSpPr/>
          <p:nvPr/>
        </p:nvSpPr>
        <p:spPr>
          <a:xfrm>
            <a:off x="320040" y="2560320"/>
            <a:ext cx="384048" cy="43891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0"/>
          <p:cNvSpPr/>
          <p:nvPr/>
        </p:nvSpPr>
        <p:spPr>
          <a:xfrm>
            <a:off x="320040" y="2560320"/>
            <a:ext cx="3840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0"/>
          <p:cNvSpPr/>
          <p:nvPr/>
        </p:nvSpPr>
        <p:spPr>
          <a:xfrm>
            <a:off x="822960" y="2560320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Justificativa da escolha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0"/>
          <p:cNvSpPr/>
          <p:nvPr/>
        </p:nvSpPr>
        <p:spPr>
          <a:xfrm>
            <a:off x="2926080" y="2560320"/>
            <a:ext cx="5806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Por que esse método responde melhor à sua pergunta? Por que não outro?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0"/>
          <p:cNvSpPr/>
          <p:nvPr/>
        </p:nvSpPr>
        <p:spPr>
          <a:xfrm>
            <a:off x="320040" y="3054096"/>
            <a:ext cx="8503920" cy="43891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0"/>
          <p:cNvSpPr/>
          <p:nvPr/>
        </p:nvSpPr>
        <p:spPr>
          <a:xfrm>
            <a:off x="320040" y="3054096"/>
            <a:ext cx="384048" cy="43891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0"/>
          <p:cNvSpPr/>
          <p:nvPr/>
        </p:nvSpPr>
        <p:spPr>
          <a:xfrm>
            <a:off x="320040" y="3054096"/>
            <a:ext cx="3840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0"/>
          <p:cNvSpPr/>
          <p:nvPr/>
        </p:nvSpPr>
        <p:spPr>
          <a:xfrm>
            <a:off x="822960" y="3054096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Unidade de análise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0"/>
          <p:cNvSpPr/>
          <p:nvPr/>
        </p:nvSpPr>
        <p:spPr>
          <a:xfrm>
            <a:off x="2926080" y="3054096"/>
            <a:ext cx="5806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 que ou quem será estudado? Como e por que foi selecionado?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0"/>
          <p:cNvSpPr/>
          <p:nvPr/>
        </p:nvSpPr>
        <p:spPr>
          <a:xfrm>
            <a:off x="320040" y="3547872"/>
            <a:ext cx="8503920" cy="43891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0"/>
          <p:cNvSpPr/>
          <p:nvPr/>
        </p:nvSpPr>
        <p:spPr>
          <a:xfrm>
            <a:off x="320040" y="3547872"/>
            <a:ext cx="384048" cy="43891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0"/>
          <p:cNvSpPr/>
          <p:nvPr/>
        </p:nvSpPr>
        <p:spPr>
          <a:xfrm>
            <a:off x="320040" y="3547872"/>
            <a:ext cx="3840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0"/>
          <p:cNvSpPr/>
          <p:nvPr/>
        </p:nvSpPr>
        <p:spPr>
          <a:xfrm>
            <a:off x="822960" y="3547872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Coleta de dados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0"/>
          <p:cNvSpPr/>
          <p:nvPr/>
        </p:nvSpPr>
        <p:spPr>
          <a:xfrm>
            <a:off x="2926080" y="3547872"/>
            <a:ext cx="5806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Como os dados serão coletados? Instrumentos, fontes, protocolo.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0"/>
          <p:cNvSpPr/>
          <p:nvPr/>
        </p:nvSpPr>
        <p:spPr>
          <a:xfrm>
            <a:off x="320040" y="4041648"/>
            <a:ext cx="8503920" cy="43891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0"/>
          <p:cNvSpPr/>
          <p:nvPr/>
        </p:nvSpPr>
        <p:spPr>
          <a:xfrm>
            <a:off x="320040" y="4041648"/>
            <a:ext cx="384048" cy="43891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0"/>
          <p:cNvSpPr/>
          <p:nvPr/>
        </p:nvSpPr>
        <p:spPr>
          <a:xfrm>
            <a:off x="320040" y="4041648"/>
            <a:ext cx="3840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0"/>
          <p:cNvSpPr/>
          <p:nvPr/>
        </p:nvSpPr>
        <p:spPr>
          <a:xfrm>
            <a:off x="822960" y="4041648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Análise de dados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0"/>
          <p:cNvSpPr/>
          <p:nvPr/>
        </p:nvSpPr>
        <p:spPr>
          <a:xfrm>
            <a:off x="2926080" y="4041648"/>
            <a:ext cx="5806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Como os dados serão analisados? Qual técnica? Por quê é adequada?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0"/>
          <p:cNvSpPr/>
          <p:nvPr/>
        </p:nvSpPr>
        <p:spPr>
          <a:xfrm>
            <a:off x="320040" y="4535424"/>
            <a:ext cx="8503920" cy="43891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0"/>
          <p:cNvSpPr/>
          <p:nvPr/>
        </p:nvSpPr>
        <p:spPr>
          <a:xfrm>
            <a:off x="320040" y="4535424"/>
            <a:ext cx="384048" cy="43891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0"/>
          <p:cNvSpPr/>
          <p:nvPr/>
        </p:nvSpPr>
        <p:spPr>
          <a:xfrm>
            <a:off x="320040" y="4535424"/>
            <a:ext cx="3840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0"/>
          <p:cNvSpPr/>
          <p:nvPr/>
        </p:nvSpPr>
        <p:spPr>
          <a:xfrm>
            <a:off x="822960" y="4535424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Ameaças à validade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0"/>
          <p:cNvSpPr/>
          <p:nvPr/>
        </p:nvSpPr>
        <p:spPr>
          <a:xfrm>
            <a:off x="2926080" y="4535424"/>
            <a:ext cx="5806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Quais são os limites do seu estudo? Como você tentou mitigá-los?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1"/>
          <p:cNvSpPr/>
          <p:nvPr/>
        </p:nvSpPr>
        <p:spPr>
          <a:xfrm>
            <a:off x="365760" y="91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CANVAS — FECHAMENTO DO 2º FDS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1"/>
          <p:cNvSpPr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Atualize o canvas do 1º FDS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1"/>
          <p:cNvSpPr/>
          <p:nvPr/>
        </p:nvSpPr>
        <p:spPr>
          <a:xfrm>
            <a:off x="365760" y="987552"/>
            <a:ext cx="109728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1"/>
          <p:cNvSpPr/>
          <p:nvPr/>
        </p:nvSpPr>
        <p:spPr>
          <a:xfrm>
            <a:off x="365760" y="109728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Preencha ou atualize com o que aprendeu neste FDS: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1"/>
          <p:cNvSpPr/>
          <p:nvPr/>
        </p:nvSpPr>
        <p:spPr>
          <a:xfrm>
            <a:off x="274320" y="1481328"/>
            <a:ext cx="4160520" cy="12344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1"/>
          <p:cNvSpPr/>
          <p:nvPr/>
        </p:nvSpPr>
        <p:spPr>
          <a:xfrm>
            <a:off x="274320" y="1481328"/>
            <a:ext cx="4160520" cy="34747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1"/>
          <p:cNvSpPr/>
          <p:nvPr/>
        </p:nvSpPr>
        <p:spPr>
          <a:xfrm>
            <a:off x="274320" y="1481328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 de pesquisa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1"/>
          <p:cNvSpPr/>
          <p:nvPr/>
        </p:nvSpPr>
        <p:spPr>
          <a:xfrm>
            <a:off x="4709160" y="1481328"/>
            <a:ext cx="4160520" cy="123444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1"/>
          <p:cNvSpPr/>
          <p:nvPr/>
        </p:nvSpPr>
        <p:spPr>
          <a:xfrm>
            <a:off x="4709160" y="1481328"/>
            <a:ext cx="4160520" cy="34747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1"/>
          <p:cNvSpPr/>
          <p:nvPr/>
        </p:nvSpPr>
        <p:spPr>
          <a:xfrm>
            <a:off x="4709160" y="1481328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Lacuna / Gap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1"/>
          <p:cNvSpPr/>
          <p:nvPr/>
        </p:nvSpPr>
        <p:spPr>
          <a:xfrm>
            <a:off x="274320" y="2852928"/>
            <a:ext cx="2011680" cy="201168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1"/>
          <p:cNvSpPr/>
          <p:nvPr/>
        </p:nvSpPr>
        <p:spPr>
          <a:xfrm>
            <a:off x="274320" y="2852928"/>
            <a:ext cx="2011680" cy="34747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1"/>
          <p:cNvSpPr/>
          <p:nvPr/>
        </p:nvSpPr>
        <p:spPr>
          <a:xfrm>
            <a:off x="274320" y="285292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Postura filosófica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1"/>
          <p:cNvSpPr/>
          <p:nvPr/>
        </p:nvSpPr>
        <p:spPr>
          <a:xfrm>
            <a:off x="2423160" y="2852928"/>
            <a:ext cx="2011680" cy="201168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1"/>
          <p:cNvSpPr/>
          <p:nvPr/>
        </p:nvSpPr>
        <p:spPr>
          <a:xfrm>
            <a:off x="2423160" y="2852928"/>
            <a:ext cx="2011680" cy="34747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31"/>
          <p:cNvSpPr/>
          <p:nvPr/>
        </p:nvSpPr>
        <p:spPr>
          <a:xfrm>
            <a:off x="2423160" y="285292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Abordagem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(Quali / Quanti / Mista)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1"/>
          <p:cNvSpPr/>
          <p:nvPr/>
        </p:nvSpPr>
        <p:spPr>
          <a:xfrm>
            <a:off x="4663440" y="2852928"/>
            <a:ext cx="2011680" cy="201168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1"/>
          <p:cNvSpPr/>
          <p:nvPr/>
        </p:nvSpPr>
        <p:spPr>
          <a:xfrm>
            <a:off x="4663440" y="2852928"/>
            <a:ext cx="2011680" cy="34747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1"/>
          <p:cNvSpPr/>
          <p:nvPr/>
        </p:nvSpPr>
        <p:spPr>
          <a:xfrm>
            <a:off x="4663440" y="285292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Método escolhido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justificativa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1"/>
          <p:cNvSpPr/>
          <p:nvPr/>
        </p:nvSpPr>
        <p:spPr>
          <a:xfrm>
            <a:off x="6858000" y="2852928"/>
            <a:ext cx="2011680" cy="201168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1"/>
          <p:cNvSpPr/>
          <p:nvPr/>
        </p:nvSpPr>
        <p:spPr>
          <a:xfrm>
            <a:off x="6858000" y="2852928"/>
            <a:ext cx="2011680" cy="34747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1"/>
          <p:cNvSpPr/>
          <p:nvPr/>
        </p:nvSpPr>
        <p:spPr>
          <a:xfrm>
            <a:off x="6858000" y="285292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esperado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Até o próximo FDS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2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O que levamos deste fim de semana: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2"/>
          <p:cNvSpPr/>
          <p:nvPr/>
        </p:nvSpPr>
        <p:spPr>
          <a:xfrm>
            <a:off x="457200" y="2020824"/>
            <a:ext cx="256032" cy="25603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2"/>
          <p:cNvSpPr/>
          <p:nvPr/>
        </p:nvSpPr>
        <p:spPr>
          <a:xfrm>
            <a:off x="457200" y="202082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2"/>
          <p:cNvSpPr/>
          <p:nvPr/>
        </p:nvSpPr>
        <p:spPr>
          <a:xfrm>
            <a:off x="841248" y="187452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 escolha do método começa na postura filosófica — não no capítulo de métodos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2"/>
          <p:cNvSpPr/>
          <p:nvPr/>
        </p:nvSpPr>
        <p:spPr>
          <a:xfrm>
            <a:off x="457200" y="2587752"/>
            <a:ext cx="256032" cy="25603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2"/>
          <p:cNvSpPr/>
          <p:nvPr/>
        </p:nvSpPr>
        <p:spPr>
          <a:xfrm>
            <a:off x="457200" y="25877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2"/>
          <p:cNvSpPr/>
          <p:nvPr/>
        </p:nvSpPr>
        <p:spPr>
          <a:xfrm>
            <a:off x="841248" y="2441448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Quali e Quanti não são opostos: são ferramentas para perguntas diferentes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2"/>
          <p:cNvSpPr/>
          <p:nvPr/>
        </p:nvSpPr>
        <p:spPr>
          <a:xfrm>
            <a:off x="457200" y="3154680"/>
            <a:ext cx="256032" cy="25603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2"/>
          <p:cNvSpPr/>
          <p:nvPr/>
        </p:nvSpPr>
        <p:spPr>
          <a:xfrm>
            <a:off x="457200" y="31546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2"/>
          <p:cNvSpPr/>
          <p:nvPr/>
        </p:nvSpPr>
        <p:spPr>
          <a:xfrm>
            <a:off x="841248" y="3008376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Survey mede. Grupo focal explora. Experimento causa. DSR constrói.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2"/>
          <p:cNvSpPr/>
          <p:nvPr/>
        </p:nvSpPr>
        <p:spPr>
          <a:xfrm>
            <a:off x="457200" y="3721608"/>
            <a:ext cx="256032" cy="25603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2"/>
          <p:cNvSpPr/>
          <p:nvPr/>
        </p:nvSpPr>
        <p:spPr>
          <a:xfrm>
            <a:off x="457200" y="372160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2"/>
          <p:cNvSpPr/>
          <p:nvPr/>
        </p:nvSpPr>
        <p:spPr>
          <a:xfrm>
            <a:off x="841248" y="3575304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Método adequado é o que responde melhor à sua pergunta — não o mais fácil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2"/>
          <p:cNvSpPr/>
          <p:nvPr/>
        </p:nvSpPr>
        <p:spPr>
          <a:xfrm>
            <a:off x="457200" y="4288536"/>
            <a:ext cx="256032" cy="256032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32"/>
          <p:cNvSpPr/>
          <p:nvPr/>
        </p:nvSpPr>
        <p:spPr>
          <a:xfrm>
            <a:off x="457200" y="428853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2"/>
          <p:cNvSpPr/>
          <p:nvPr/>
        </p:nvSpPr>
        <p:spPr>
          <a:xfrm>
            <a:off x="841248" y="4142232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Toda escolha metodológica precisa ser justificada — não apenas nomeada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CESAR School  ·  Mestrado em Ciência da Computação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2026-06-08T16:23:53Z</dcterms:created>
  <dc:creator>PptxGenJS</dc:creator>
</cp:coreProperties>
</file>