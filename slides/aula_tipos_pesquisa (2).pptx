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objetivo da aula: nao decorar categorias, mas entender por que a escolha metodologica e um argumento cientifico.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Discutir: qual foi a ultima vez que a banca questionou nao o que foi feito, mas o paradigma adotado?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as seis dimensoes sao ortogonais: um experimento controlado pode ser qualitativo, longitudinal e aplicado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pragmatismo nao e sinonimo de projetivo. Pragmatismo justifica misturar metodos. Design Science (projetivo) tem sua propria logica epistemologica: o artefato e a hipotese.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atencao: a 'falsa dicotomia' e um problema real em bancas brasileiras. Discutir como justificar o uso de metodos mistos sem soar oportunista.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ao metodo hipotetico-dedutivo de Popper: a ideia de P1-&gt;TT-&gt;EE-&gt;P2 e o ciclo de pesquisa em ES. Relacao com Design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com os niveis de evidencia da medicina. Em ES a hierarquia e contextual, nao absoluta.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Discussao: por que MSR (mineracao de repositorios) desloca o continuo laboratorio-&gt;campo? O repositorio e campo ou laboratorio?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Exercicio: desenhar a timeline de uma pesquisa longitudinal em ES. Quais os desafios praticos?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Exercicio oral: pedir que os alunos identifiquem o TIPO de pergunta da sua RQ principal. E exploratorio ou ja causativo? Ha hipotese clara?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slide mais operacional da aula. O aluno chega com a pergunta, nao com o paradigma. Exercicio: cada um classifica sua RQ na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 intencionalmente resumido. Os metodos serao detalhados na proxima sessao, um por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para casa: trazer o projeto classificado nas seis dimensoes. Apresentar na proxima aula com justificativa por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Deixar com a frase: classificar e escolher, e escolher e argumentar.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AC8A0">
              <a:alpha val="50000"/>
            </a:srgbClr>
          </a:solidFill>
          <a:ln w="12700">
            <a:solidFill>
              <a:srgbClr val="FAC8A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-731520"/>
            <a:ext cx="2286000" cy="2286000"/>
          </a:xfrm>
          <a:prstGeom prst="ellipse">
            <a:avLst/>
          </a:prstGeom>
          <a:solidFill>
            <a:srgbClr val="FAC8A0">
              <a:alpha val="40000"/>
            </a:srgbClr>
          </a:solidFill>
          <a:ln w="12700">
            <a:solidFill>
              <a:srgbClr val="FAC8A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Pesquisa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Computação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· Métodos · Perguntas · Estratégias Empíricas em 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Metodologia de Pesquisa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e Doutorado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PESQUISA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classificar a pesquisa?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método não é neutra — ela expressa uma posição epistemológica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DE8D8"/>
          </a:solidFill>
          <a:ln w="12700">
            <a:solidFill>
              <a:srgbClr val="FAC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existe apenas um tipo de método científico. Para cada tipo de problema, iremos encontrar um método adequado à nossa crença sobre objetividade ou subjetividade.”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2029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Gomes &amp; Gomes (2019)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4231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71576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inadequada compromete a validade interna e externa dos resultados.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24231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271576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 seu trabalho dentro de uma comunidade científica específica (ICSE, SBIE, CHI…).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5661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85876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pergunta de pesquisa, método e critério de avaliação.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5661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por pares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85876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Avaliadores esperam consistência epistemológica entre objetivos e design metodológico.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Classificação da Pesquisa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dimensões independentes — sua pesquisa é classificada em todas simultaneamente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 / Qualitativo / Misto / Crítico / Pragmático / Projetivo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método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82696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Indutivo / Dedutivo / Hipotético-ded. / Dialético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25896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34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74536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c/ objeto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5624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Bibliográfica / Emp. controlada / Campo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2953512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363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31181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29768" y="357530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Exploratória / Descritiva / Explicativa / Experimental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172968" y="2953512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13639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21608" y="31181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282696" y="357530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(cross-sectional) / Longitudinal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025896" y="2953512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2EFEC"/>
          </a:solidFill>
          <a:ln w="635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3136392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74536" y="31181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× mercado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135624" y="357530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/ Aplicada / Open Innovation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Pesquisa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Easterbrook et al. (2008) — cap. 11 · Gomes &amp; Gomes (2019) — cap.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1887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517904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claras, variáveis operacionalizadas, medição objetiva. Redutivismo. Replicabilidade.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3500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Experimentos controlados, surveys (TOSEM, EMSE)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11887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Interpretativo / Construtivista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517904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construído socialmente. Pesquisador como instrumento. Teorias emergem dos dados.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73552" y="23500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Etnografia, grounded theory, estudos de caso exploratórios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53912" y="11887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53912" y="1517904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como empoderamento. Pesquisa é ato político. Emancipação e mudança social.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23500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Pesquisa-ação, estudos sobre diversidade e decolonialidade em TI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81912" y="31546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19072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35753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 = o que funciona. Sem fidelidade a um único método. Justifica métodos mistos.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9072" y="4270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Métodos mistos (quanti+quali); qualquer estratégia que responda melhor à RQ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88152" y="31546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2EFEC"/>
          </a:solidFill>
          <a:ln w="15240">
            <a:solidFill>
              <a:srgbClr val="F0783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25312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Projetivo (Design Science)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25312" y="35753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= artefato em evolução. Conhecimento é o próprio artefato e seu impacto. Diferente do pragmatismo: tem epistemologia própria.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25312" y="4270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Frameworks, linguagens, métodos, ferramentas de SE (Hevner et al., 2004)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Pragmático ≠ Projetivo: o pragmatismo é uma postura sobre escolha de métodos; o projetivo tem epistemologia própria centrada na criação de artefatos.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Falsa Dicotomia Quali-Quanti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mistos como síntese — não como concessão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AC8A0"/>
          </a:solidFill>
          <a:ln w="12700">
            <a:solidFill>
              <a:srgbClr val="FAC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98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Hipóteses a priori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Variáveis operacionalizadas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734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Controle de vieses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300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Generalização estatística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867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Pergunta: quanto? com que frequência?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10058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EFEC"/>
          </a:solidFill>
          <a:ln w="19050">
            <a:solidFill>
              <a:srgbClr val="F0783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0584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0698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Sequências quanti→quali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Sequências quali→quanti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734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Paralelo (simultâneo)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300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Triangulação de resultados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867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Pergunta: por quê? e quanto?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10058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00584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AC8A0"/>
          </a:solidFill>
          <a:ln w="12700">
            <a:solidFill>
              <a:srgbClr val="FAC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10698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90488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Foco em significados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Pesquisador como instrumento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2734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Análise indutiva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0488" y="3300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Transferabilidade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3867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Pergunta: como? por quê?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ES, métodos mistos são comuns: surveys exploratórios seguidos de experimentos confirmatórios (e.g., Creswell &amp; Clark, 2017; Stol &amp; Fitzgerald, 2018).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Método Científico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que governa a produção do conhecimento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54864"/>
          </a:xfrm>
          <a:prstGeom prst="rect">
            <a:avLst/>
          </a:prstGeom>
          <a:solidFill>
            <a:srgbClr val="FAC8A0"/>
          </a:solidFill>
          <a:ln w="12700">
            <a:solidFill>
              <a:srgbClr val="FAC8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240280"/>
            <a:ext cx="457200" cy="45720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particulares → generalização. Identificação de padrões a partir de observações.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Theory, estudos de caso explanatórios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457200" cy="45720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Dedutivo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gerais → casos específicos. Base formal da CS (teoremas, provas, algoritmos).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2788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formal, model checking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2240280"/>
            <a:ext cx="457200" cy="45720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Hipotético-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dedutivo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→ TT → EE → P2 (Popper). Ciclos de tentativa e refutação de hipóteses.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controlados, A/B testing em 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23760" y="2240280"/>
            <a:ext cx="457200" cy="45720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Dialético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e pesquisador se transformam mutuamente. Unidades de análise dialéticas.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2788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Atividade, pesquisa-ação em 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ES: o método hipotético-dedutivo domina a pesquisa empírica quantitativa (Wohlin et al., 2012); grounded theory e estudos de caso seguem a lógica indutiva (Runeson &amp; Höst, 2009).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Profundidade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exploratório ao experimental: o conhecimento avança em estágios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FDE8D8"/>
          </a:solidFill>
          <a:ln w="12700">
            <a:solidFill>
              <a:srgbClr val="FDE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Exploratória — Pouco conhecimento acumulado. Descrição inicial de fenômenos e relações.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97280" y="1947672"/>
            <a:ext cx="6949440" cy="777240"/>
          </a:xfrm>
          <a:prstGeom prst="roundRect">
            <a:avLst>
              <a:gd name="adj" fmla="val 5882"/>
            </a:avLst>
          </a:prstGeom>
          <a:solidFill>
            <a:srgbClr val="FAC8A0"/>
          </a:solidFill>
          <a:ln w="12700">
            <a:solidFill>
              <a:srgbClr val="FAC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03911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 — Fatos observados, registrados e classificados sem inferência de causas.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2843784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93522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Explicativa — Identifica fatores determinantes. Requer densidade e menor 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3739896"/>
            <a:ext cx="4389120" cy="777240"/>
          </a:xfrm>
          <a:prstGeom prst="roundRect">
            <a:avLst>
              <a:gd name="adj" fmla="val 5882"/>
            </a:avLst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8313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— Controla variáveis, manipula causas, mede efeitos. Maior validade interna.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1051560"/>
            <a:ext cx="0" cy="3584448"/>
          </a:xfrm>
          <a:prstGeom prst="line">
            <a:avLst/>
          </a:prstGeom>
          <a:noFill/>
          <a:ln w="25400">
            <a:solidFill>
              <a:srgbClr val="F07830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8686800" y="21031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ES: surveys mapeiam práticas (descritivo); estudos de caso analisam processos (explicativo); experimentos controlados verificam hipóteses (experimental).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Objeto de Pesquisa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pesquisador se posiciona em relação ao que investiga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435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097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Bibliográfica / RSL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389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via publicações anteriores. Formas: revisão ad hoc, temática, revisão sistemática (RSL). Exige protocolo rigoroso de busca e seleção.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78992" y="18470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ES: RSLs são padrão em venues como TOSEM, IST, JSS. Uso de PICO, string de busca, critérios de inclusão/exclusão.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968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Empírica Controlada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743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laboratório. Variáveis controladas e manipuladas. Alta validade interna, mas risco de baixa validade ecológica.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8992" y="32004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ES: experimentos com desenvolvedores (e.g., avaliação de ferramentas, técnicas de teste, pair programming).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41064"/>
            <a:ext cx="502920" cy="502920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02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8039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Campo (In loco)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0965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natural do fenômeno. Observação em ambientes reais de desenvolvimento. Variáveis livres, maior validade externa.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8992" y="45537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ES: etnografias em empresas, estudos de caso em projetos reais (GitHub Mining, MSR, qualitative case studies).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Temporal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× Longitudinal: a escala de tempo define o que pode ser observado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DE8D8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(Cross-sectional)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Analisa o fenômeno em um único momento.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Analogia: fotografia — retrato circunscrito e focal.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Viável com janelas curtas; adequada para correlações entre grupos.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392424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Risco: não captura processos de mudança ou aprendizagem.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68496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 ES: surveys de práticas industriais, análise de repositórios num corte temporal (MSR).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2EFEC"/>
          </a:solidFill>
          <a:ln w="1016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97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664208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Acompanha a mesma amostra ao longo do tempo.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240280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Analogia: filme — processo contínuo e evolutivo.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81635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Adequada para fenômenos de desenvolvimento e maturação.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392424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 alto; atrito amostral; exige instrumentação persistente.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968496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 ES: estudos de adoção de práticas ágeis; rastreamento de dívida técnica ao longo de releases.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Pergunta de Pesquisa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Easterbrook et al. (2008) cap. 11 — adaptado de Meltzoff (1998)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Pergunta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0515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51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8503920" cy="38404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Existência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existe?”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3504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preferência real por TDD entre developers seniores?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751076"/>
            <a:ext cx="8503920" cy="38404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967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/ Classificação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7967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é X? Quais suas propriedades?”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0" y="17967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tipos de dívida técnica são mais comuns em sistemas legados?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8503920" cy="38404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Descritiva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X difere de Y?”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code review difere entre projetos OSS e proprietários?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546604"/>
            <a:ext cx="8503920" cy="38404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923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/ Distribuição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5923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 que frequência X ocorre?”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25923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projetos usam CI em repositórios do GitHub?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944368"/>
            <a:ext cx="8503920" cy="38404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Descritivo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X normalmente funciona?”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35040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equipes tomam decisões de arquitetura na prática?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342132"/>
            <a:ext cx="8503920" cy="38404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878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3878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e Y estão relacionados?”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35040" y="33878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 se correlaciona com menor número de bugs?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739896"/>
            <a:ext cx="8503920" cy="38404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85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causa Y?”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35040" y="3785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causa aumento na qualidade do código?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137660"/>
            <a:ext cx="8503920" cy="38404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833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 Comp.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37560" y="41833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causa mais Y que Z?”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35040" y="41833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gera mais cobertura que testes tardios?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535424"/>
            <a:ext cx="8503920" cy="38404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81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Otimização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581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construir/melhorar X?”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35040" y="4581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projetar uma ferramenta que reduza dívida técnica?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→ Posicionamento → Método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determina o paradigma; o paradigma orienta o método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Pergunta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042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natural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1042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Método(s) em 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8595360" cy="36118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Existência / Descrição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Interpretativo / Exploratoratório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8076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caso, Etnografia, RSL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728216"/>
            <a:ext cx="8595360" cy="36118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73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/ Distribuição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773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80760" y="1773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MSR, Análise de repositórios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8595360" cy="36118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Descritivo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Interpretativo / Construtivista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8076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caso, Etnografia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478024"/>
            <a:ext cx="8595360" cy="36118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/ Correlação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0760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correlacional, MSR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8595360" cy="36118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 / Hipotético-ded.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controlado, Quasi-exp.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227832"/>
            <a:ext cx="8595360" cy="36118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 Comparativa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46120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fatorial, RCT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602736"/>
            <a:ext cx="8595360" cy="36118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Otimização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Projetivo (Design Science)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8076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DSR, Pesquisa-ação, Prototipagem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8595360" cy="361188"/>
          </a:xfrm>
          <a:prstGeom prst="rect">
            <a:avLst/>
          </a:prstGeom>
          <a:solidFill>
            <a:srgbClr val="F2EFEC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Emancipação / Mudança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4612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8076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Pesquisa-ação, Participante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352544"/>
            <a:ext cx="8595360" cy="361188"/>
          </a:xfrm>
          <a:prstGeom prst="rect">
            <a:avLst/>
          </a:prstGeom>
          <a:solidFill>
            <a:srgbClr val="FDE8D8"/>
          </a:solidFill>
          <a:ln w="3175">
            <a:solidFill>
              <a:srgbClr val="FAC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/ Mistas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80760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mistos (sequencial / triangulação)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é orientativa, não determinística. Perguntas causais podem ser abordadas com estudos de caso exploratórios quando experimentos não são viáveis.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Empíricas em 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Easterbrook et al. (2008) — cada estratégia terá seu próprio slide na próxima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1612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Controlado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Positivista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Causalidade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0515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11612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1704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Interpretativo / Positivista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1305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Processo / Explicação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25896" y="10515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DE8D8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11612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11704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3056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Positivista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63056" y="21305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Frequência / Relação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29900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9992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Etnografia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4747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Construtivista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Existência / Processo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72968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82696" y="29900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9992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0332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Pesquisa-Ação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4747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Crítico / Pragmático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10128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Design / Mudança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25896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2EFEC"/>
          </a:solidFill>
          <a:ln w="7620">
            <a:solidFill>
              <a:srgbClr val="FAC8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35624" y="2990088"/>
            <a:ext cx="347472" cy="347472"/>
          </a:xfrm>
          <a:prstGeom prst="ellipse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29992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5624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Repos (MSR)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63056" y="34747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Positivista / Pragmático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63056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Frequência / Relação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será detalhado em slides próprios: pré-condições, pontos fortes, ameaças à validade e exemplos em 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Atividade: Classificando Sua Pesquisa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integrador — aplique as seis dimensões ao seu projeto de dissertação/tese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 · Metodologia de Pesquisa · Mestrado e Doutorado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06984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orientadora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539496"/>
          </a:xfrm>
          <a:prstGeom prst="rect">
            <a:avLst/>
          </a:prstGeom>
          <a:solidFill>
            <a:srgbClr val="FDE8D8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399032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sua crença sobre a natureza do fenômeno?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(positivista / interpretativo / projetivo / crítico / pragmático)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29384"/>
            <a:ext cx="8503920" cy="539496"/>
          </a:xfrm>
          <a:prstGeom prst="rect">
            <a:avLst/>
          </a:prstGeom>
          <a:solidFill>
            <a:srgbClr val="F2EFEC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75104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método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956816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conhecimento é gerado na sua pesquisa?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(indutivo / dedutivo / hipotético-ded. / dialético)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539496"/>
          </a:xfrm>
          <a:prstGeom prst="rect">
            <a:avLst/>
          </a:prstGeom>
          <a:solidFill>
            <a:srgbClr val="FDE8D8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32888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c/ objeto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514600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interage diretamente com o fenômeno?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(bibliográfica / emp. controlada / campo)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44952"/>
            <a:ext cx="8503920" cy="539496"/>
          </a:xfrm>
          <a:prstGeom prst="rect">
            <a:avLst/>
          </a:prstGeom>
          <a:solidFill>
            <a:srgbClr val="F2EFEC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07238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nível de conhecimento que você quer produzir?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(exploratório / descritivo / explicativo / experimental)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602736"/>
            <a:ext cx="8503920" cy="539496"/>
          </a:xfrm>
          <a:prstGeom prst="rect">
            <a:avLst/>
          </a:prstGeom>
          <a:solidFill>
            <a:srgbClr val="FDE8D8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48456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3630168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fenômeno exige acompanhamento longitudinal?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(transversal / longitudinal)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8503920" cy="539496"/>
          </a:xfrm>
          <a:prstGeom prst="rect">
            <a:avLst/>
          </a:prstGeom>
          <a:solidFill>
            <a:srgbClr val="F2EFEC"/>
          </a:solidFill>
          <a:ln w="3810">
            <a:solidFill>
              <a:srgbClr val="FAC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× mercado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4187952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pesquisa avança teoria ou resolve problema prático?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(básica / aplicada / open innovation)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suas respostas. Inconsistências entre dimensões são sinal de revisão necessária do design metodológico.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FAC8A0">
              <a:alpha val="50000"/>
            </a:srgbClr>
          </a:solidFill>
          <a:ln w="12700">
            <a:solidFill>
              <a:srgbClr val="FAC8A0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457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Centrais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960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Gomes &amp; Gomes (2019). Classificação dos tipos de pesquisa em IE. Cap. 4.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749040" y="149961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Easterbrook et al. (2008). Selecting Empirical Methods for SE Research. Cap. 11.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49040" y="2039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Wohlin et al. (2012). Experimentation in Software Engineering. Springer.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49040" y="25786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Runeson &amp; Höst (2009). Guidelines for case study research in SE. EMSE.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311810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Yin, R. K. (2009). Case Study Research: Design and Methods. 4th ed. Sage.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36576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Kitchenham &amp; Charters (2007). Guidelines for Systematic Literature Reviews in SE.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" y="1371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é escolher.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é argumentar.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School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Pesquisa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dos Tipos de Pesquisa em Computação</dc:title>
  <dc:subject>PptxGenJS Presentation</dc:subject>
  <dc:creator>PptxGenJS</dc:creator>
  <cp:lastModifiedBy>PptxGenJS</cp:lastModifiedBy>
  <cp:revision>1</cp:revision>
  <dcterms:created xsi:type="dcterms:W3CDTF">2026-06-14T17:36:29Z</dcterms:created>
  <dcterms:modified xsi:type="dcterms:W3CDTF">2026-06-14T17:36:29Z</dcterms:modified>
</cp:coreProperties>
</file>