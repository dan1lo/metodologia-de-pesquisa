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5143500" cx="9144000"/>
  <p:notesSz cx="5143500" cy="9144000"/>
  <p:embeddedFontLst>
    <p:embeddedFont>
      <p:font typeface="Barlow Semi Condensed"/>
      <p:regular r:id="rId50"/>
      <p:bold r:id="rId51"/>
      <p:italic r:id="rId52"/>
      <p:boldItalic r:id="rId53"/>
    </p:embeddedFont>
    <p:embeddedFont>
      <p:font typeface="Barlow SemiBold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8" roundtripDataSignature="AMtx7mgmLlcGy1S/O7RKdNRkJHHvIuLE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BarlowSemiCondensed-bold.fntdata"/><Relationship Id="rId50" Type="http://schemas.openxmlformats.org/officeDocument/2006/relationships/font" Target="fonts/BarlowSemiCondensed-regular.fntdata"/><Relationship Id="rId53" Type="http://schemas.openxmlformats.org/officeDocument/2006/relationships/font" Target="fonts/BarlowSemiCondensed-boldItalic.fntdata"/><Relationship Id="rId52" Type="http://schemas.openxmlformats.org/officeDocument/2006/relationships/font" Target="fonts/BarlowSemiCondensed-italic.fntdata"/><Relationship Id="rId11" Type="http://schemas.openxmlformats.org/officeDocument/2006/relationships/slide" Target="slides/slide7.xml"/><Relationship Id="rId55" Type="http://schemas.openxmlformats.org/officeDocument/2006/relationships/font" Target="fonts/BarlowSemiBold-bold.fntdata"/><Relationship Id="rId10" Type="http://schemas.openxmlformats.org/officeDocument/2006/relationships/slide" Target="slides/slide6.xml"/><Relationship Id="rId54" Type="http://schemas.openxmlformats.org/officeDocument/2006/relationships/font" Target="fonts/BarlowSemiBold-regular.fntdata"/><Relationship Id="rId13" Type="http://schemas.openxmlformats.org/officeDocument/2006/relationships/slide" Target="slides/slide9.xml"/><Relationship Id="rId57" Type="http://schemas.openxmlformats.org/officeDocument/2006/relationships/font" Target="fonts/BarlowSemiBold-boldItalic.fntdata"/><Relationship Id="rId12" Type="http://schemas.openxmlformats.org/officeDocument/2006/relationships/slide" Target="slides/slide8.xml"/><Relationship Id="rId56" Type="http://schemas.openxmlformats.org/officeDocument/2006/relationships/font" Target="fonts/BarlowSemiBold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8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1f5fefe7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e1f5fefe7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e1f5fefe7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410e2c0f2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e410e2c0f2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e410e2c0f2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410e2c0f2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e410e2c0f2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e410e2c0f2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1f5fefe7d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e1f5fefe7d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e1f5fefe7d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1f5fefe7d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e1f5fefe7d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1f5fefe7d_0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1f5fefe7d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e1f5fefe7d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e1f5fefe7d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1f5fefe7d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e1f5fefe7d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e1f5fefe7d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1f5fefe7d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e1f5fefe7d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e1f5fefe7d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1f5fefe7d_0_2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e1f5fefe7d_0_2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e1f5fefe7d_0_2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1f5fefe7d_0_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g3e1f5fefe7d_0_1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e1f5fefe7d_0_1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e1f5fefe7d_0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g3e1f5fefe7d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e1f5fefe7d_0_1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e1f5fefe7d_0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g3e1f5fefe7d_0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e1f5fefe7d_0_1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e1f5fefe7d_0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g3e1f5fefe7d_0_2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e1f5fefe7d_0_2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8" name="Google Shape;80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" name="Google Shape;84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8" name="Google Shape;89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8" name="Google Shape;92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2" name="Google Shape;95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6" name="Google Shape;100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franssa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Metodologia de Pesquisa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1º Final de Semana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743200"/>
            <a:ext cx="1554480" cy="34747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274320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Ética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194560" y="2743200"/>
            <a:ext cx="1554480" cy="34747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2194560" y="274320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Leitura de Artigos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931920" y="2743200"/>
            <a:ext cx="1554480" cy="34747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931920" y="274320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Trab. Relacionados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669280" y="2743200"/>
            <a:ext cx="1554480" cy="34747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669280" y="274320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Fundamentação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406640" y="2743200"/>
            <a:ext cx="1554480" cy="34747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7406640" y="274320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Apresentação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CESAR School  ·  Mestrado em Ciência da Computação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COMO VÃO FUNCIONAR NOSSAS AULAS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Metodologia Ativa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20040" y="1280160"/>
            <a:ext cx="1920240" cy="32004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20040" y="1280160"/>
            <a:ext cx="1920240" cy="4572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20040" y="12801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20040" y="18745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e questionamentos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29768" y="2377440"/>
            <a:ext cx="16916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Vocês leem o material durante a aula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468880" y="1280160"/>
            <a:ext cx="1920240" cy="32004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2468880" y="1280160"/>
            <a:ext cx="1920240" cy="4572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2468880" y="12801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2468880" y="18745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Construção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578608" y="2377440"/>
            <a:ext cx="16916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Vocês apresentam o que encontraram — sem filtro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617720" y="1280160"/>
            <a:ext cx="1920240" cy="32004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617720" y="1280160"/>
            <a:ext cx="1920240" cy="4572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617720" y="12801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617720" y="18745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Consolidação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727448" y="2377440"/>
            <a:ext cx="16916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Eu sistematizo, corrijo e aprofundo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766560" y="1280160"/>
            <a:ext cx="1920240" cy="32004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766560" y="1280160"/>
            <a:ext cx="1920240" cy="4572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6766560" y="12801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766560" y="18745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Prática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876288" y="2377440"/>
            <a:ext cx="16916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Cases, exercícios e aplicação ao seu trabalho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 prática leva à perfeição — e aprender a pesquisar também é uma habilidade que se desenvolve.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1f5fefe7d_0_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e1f5fefe7d_0_0"/>
          <p:cNvSpPr/>
          <p:nvPr/>
        </p:nvSpPr>
        <p:spPr>
          <a:xfrm>
            <a:off x="365760" y="41148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Minha apresentação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e1f5fefe7d_0_0"/>
          <p:cNvSpPr/>
          <p:nvPr/>
        </p:nvSpPr>
        <p:spPr>
          <a:xfrm>
            <a:off x="365760" y="1005840"/>
            <a:ext cx="1097400" cy="45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e1f5fefe7d_0_0"/>
          <p:cNvSpPr/>
          <p:nvPr/>
        </p:nvSpPr>
        <p:spPr>
          <a:xfrm>
            <a:off x="365760" y="1600200"/>
            <a:ext cx="84126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Barlow Semi Condensed Medium"/>
              <a:buChar char="●"/>
            </a:pP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Quem eu sou?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Barlow Semi Condensed Medium"/>
              <a:buChar char="●"/>
            </a:pP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Mestrado e Doutorado em Ciência da Computação (UFPE)</a:t>
            </a:r>
            <a:endParaRPr sz="1600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Barlow Semi Condensed"/>
              <a:buChar char="○"/>
            </a:pP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Equipes de desen.software</a:t>
            </a:r>
            <a:endParaRPr sz="1600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Barlow Semi Condensed"/>
              <a:buChar char="○"/>
            </a:pP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Aspectos humanos no desen.Software</a:t>
            </a:r>
            <a:endParaRPr sz="1600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Barlow Semi Condensed Medium"/>
              <a:buChar char="●"/>
            </a:pP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Pós-doutorado em Ciência da Computação (UFPE) </a:t>
            </a:r>
            <a:endParaRPr sz="1600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Roboto Condensed Light"/>
              <a:buChar char="○"/>
            </a:pP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IHC</a:t>
            </a:r>
            <a:endParaRPr sz="1600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Barlow Semi Condensed Medium"/>
              <a:buChar char="●"/>
            </a:pP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Pós-doutorando em Ciência da </a:t>
            </a: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computação</a:t>
            </a: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(UFPE)</a:t>
            </a:r>
            <a:endParaRPr sz="1600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Barlow Semi Condensed"/>
              <a:buChar char="○"/>
            </a:pP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Impacto da IA na criatividade e na colaboração</a:t>
            </a:r>
            <a:endParaRPr sz="1600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Barlow Semi Condensed Medium"/>
              <a:buChar char="●"/>
            </a:pP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Professor e Pesquisador na CESAR.School</a:t>
            </a:r>
            <a:endParaRPr sz="1600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Barlow Semi Condensed"/>
              <a:buChar char="○"/>
            </a:pP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IA na pesquisa e educação</a:t>
            </a:r>
            <a:endParaRPr sz="1600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Barlow Semi Condensed"/>
              <a:buChar char="●"/>
            </a:pP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Cinco anos pesquisador na </a:t>
            </a: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Indústria (Zup(Itau), Cesar…)</a:t>
            </a:r>
            <a:endParaRPr sz="1600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Barlow Semi Condensed"/>
              <a:buChar char="●"/>
            </a:pP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Sócio na </a:t>
            </a:r>
            <a:r>
              <a:rPr lang="en-US" sz="1600" u="sng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  <a:hlinkClick r:id="rId3"/>
              </a:rPr>
              <a:t>Franssa.com</a:t>
            </a:r>
            <a:endParaRPr sz="1600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Barlow Semi Condensed"/>
              <a:buChar char="○"/>
            </a:pP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Consultoria em pesquisa e educação</a:t>
            </a:r>
            <a:endParaRPr sz="1600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Barlow Semi Condensed"/>
              <a:buChar char="○"/>
            </a:pPr>
            <a:r>
              <a:rPr lang="en-US" sz="1600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Hiperautomações</a:t>
            </a:r>
            <a:endParaRPr sz="1600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Ética na Pesquisa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Científica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57200" y="3429000"/>
            <a:ext cx="137160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410e2c0f2_0_4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e410e2c0f2_0_4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ÉTICA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e410e2c0f2_0_4"/>
          <p:cNvSpPr/>
          <p:nvPr/>
        </p:nvSpPr>
        <p:spPr>
          <a:xfrm>
            <a:off x="365760" y="1005840"/>
            <a:ext cx="1097400" cy="45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410e2c0f2_0_4"/>
          <p:cNvSpPr/>
          <p:nvPr/>
        </p:nvSpPr>
        <p:spPr>
          <a:xfrm>
            <a:off x="365760" y="1600200"/>
            <a:ext cx="84126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3600">
                <a:solidFill>
                  <a:srgbClr val="FC612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 que é ser ético?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410e2c0f2_0_12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410e2c0f2_0_12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ÉTICA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e410e2c0f2_0_12"/>
          <p:cNvSpPr/>
          <p:nvPr/>
        </p:nvSpPr>
        <p:spPr>
          <a:xfrm>
            <a:off x="365760" y="1005840"/>
            <a:ext cx="1097400" cy="45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e410e2c0f2_0_12"/>
          <p:cNvSpPr/>
          <p:nvPr/>
        </p:nvSpPr>
        <p:spPr>
          <a:xfrm>
            <a:off x="365760" y="1600200"/>
            <a:ext cx="84126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1900">
                <a:solidFill>
                  <a:srgbClr val="FC612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 que é ser ético?</a:t>
            </a:r>
            <a:endParaRPr b="0" i="0" sz="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e410e2c0f2_0_12"/>
          <p:cNvSpPr txBox="1"/>
          <p:nvPr/>
        </p:nvSpPr>
        <p:spPr>
          <a:xfrm>
            <a:off x="2841075" y="1806025"/>
            <a:ext cx="61029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Ser ético é agir pautado em princípios e valores que orientam o comportamento em sociedade, visando o bem comum e a convivência harmoniosa. Trata-se da reflexão crítica sobre a moral (o conjunto de costumes e regras de cada cultura), buscando o que é justo, digno e respeitoso. </a:t>
            </a:r>
            <a:br>
              <a:rPr lang="en-US" sz="2000">
                <a:solidFill>
                  <a:srgbClr val="FF6B00"/>
                </a:solidFill>
              </a:rPr>
            </a:br>
            <a:r>
              <a:rPr lang="en-US" sz="1000">
                <a:solidFill>
                  <a:srgbClr val="FF6B00"/>
                </a:solidFill>
              </a:rPr>
              <a:t>Fonte: https://www.scielo.br/j/interc/a/mCyWNqJwK3hm7DRZPbmbWQc/?lang=pt</a:t>
            </a:r>
            <a:endParaRPr sz="1000">
              <a:solidFill>
                <a:srgbClr val="FF6B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ÉTICA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365760" y="1600200"/>
            <a:ext cx="84124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3600">
                <a:solidFill>
                  <a:srgbClr val="FC612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 que é ser um pesquisador ético?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1f5fefe7d_0_3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e1f5fefe7d_0_30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ÉTICA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e1f5fefe7d_0_30"/>
          <p:cNvSpPr/>
          <p:nvPr/>
        </p:nvSpPr>
        <p:spPr>
          <a:xfrm>
            <a:off x="365760" y="41148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é ser um pesquisador ético?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e1f5fefe7d_0_30"/>
          <p:cNvSpPr/>
          <p:nvPr/>
        </p:nvSpPr>
        <p:spPr>
          <a:xfrm>
            <a:off x="365760" y="1005840"/>
            <a:ext cx="1097400" cy="45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e1f5fefe7d_0_30"/>
          <p:cNvSpPr/>
          <p:nvPr/>
        </p:nvSpPr>
        <p:spPr>
          <a:xfrm>
            <a:off x="365760" y="118872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Antes de qualquer definição — reflita: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e1f5fefe7d_0_30"/>
          <p:cNvSpPr/>
          <p:nvPr/>
        </p:nvSpPr>
        <p:spPr>
          <a:xfrm>
            <a:off x="365760" y="1600200"/>
            <a:ext cx="84126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"Você alteraria resultados para proteger participantes que te ajudaram?"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Arial"/>
              <a:buNone/>
            </a:pPr>
            <a:r>
              <a:rPr b="0" i="0" lang="en-US" sz="23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"Você cancelaria um estudo ao detectar conflito de interesses?"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"Como relatar resultados sem causar dano aos participantes?"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Arial"/>
              <a:buNone/>
            </a:pPr>
            <a:r>
              <a:rPr b="0" i="0" lang="en-US" sz="23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"Pode-se pagar para ter participantes de pesquisa?"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0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1f5fefe7d_0_105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e1f5fefe7d_0_105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LEITURA ATIVA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e1f5fefe7d_0_105"/>
          <p:cNvSpPr/>
          <p:nvPr/>
        </p:nvSpPr>
        <p:spPr>
          <a:xfrm>
            <a:off x="365760" y="457200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— Ética na Pesquisa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e1f5fefe7d_0_105"/>
          <p:cNvSpPr/>
          <p:nvPr/>
        </p:nvSpPr>
        <p:spPr>
          <a:xfrm>
            <a:off x="365760" y="1078992"/>
            <a:ext cx="1097400" cy="45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e1f5fefe7d_0_105"/>
          <p:cNvSpPr/>
          <p:nvPr/>
        </p:nvSpPr>
        <p:spPr>
          <a:xfrm>
            <a:off x="320040" y="1234440"/>
            <a:ext cx="8503800" cy="6585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e1f5fefe7d_0_105"/>
          <p:cNvSpPr/>
          <p:nvPr/>
        </p:nvSpPr>
        <p:spPr>
          <a:xfrm>
            <a:off x="320040" y="1234440"/>
            <a:ext cx="54900" cy="658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1f5fefe7d_0_105"/>
          <p:cNvSpPr/>
          <p:nvPr/>
        </p:nvSpPr>
        <p:spPr>
          <a:xfrm>
            <a:off x="502920" y="126187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Filgueiras &amp; Silva (2008)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e1f5fefe7d_0_105"/>
          <p:cNvSpPr/>
          <p:nvPr/>
        </p:nvSpPr>
        <p:spPr>
          <a:xfrm>
            <a:off x="502920" y="1508760"/>
            <a:ext cx="81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Ética no envolvimento de seres humanos na Engenharia de Software — Scientia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e1f5fefe7d_0_105"/>
          <p:cNvSpPr/>
          <p:nvPr/>
        </p:nvSpPr>
        <p:spPr>
          <a:xfrm>
            <a:off x="320040" y="1993392"/>
            <a:ext cx="8503800" cy="6585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1f5fefe7d_0_105"/>
          <p:cNvSpPr/>
          <p:nvPr/>
        </p:nvSpPr>
        <p:spPr>
          <a:xfrm>
            <a:off x="320040" y="1993392"/>
            <a:ext cx="54900" cy="658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1f5fefe7d_0_105"/>
          <p:cNvSpPr/>
          <p:nvPr/>
        </p:nvSpPr>
        <p:spPr>
          <a:xfrm>
            <a:off x="502920" y="202082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Rafael (material distribuído)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e1f5fefe7d_0_105"/>
          <p:cNvSpPr/>
          <p:nvPr/>
        </p:nvSpPr>
        <p:spPr>
          <a:xfrm>
            <a:off x="502920" y="2267712"/>
            <a:ext cx="81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Pesquisa com seres humanos na Ciência da Computação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e1f5fefe7d_0_105"/>
          <p:cNvSpPr/>
          <p:nvPr/>
        </p:nvSpPr>
        <p:spPr>
          <a:xfrm>
            <a:off x="365760" y="2816352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Enquanto lê, marque: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e1f5fefe7d_0_105"/>
          <p:cNvSpPr/>
          <p:nvPr/>
        </p:nvSpPr>
        <p:spPr>
          <a:xfrm>
            <a:off x="457200" y="3200400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📌  Definições que você não conhecia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e1f5fefe7d_0_105"/>
          <p:cNvSpPr/>
          <p:nvPr/>
        </p:nvSpPr>
        <p:spPr>
          <a:xfrm>
            <a:off x="457200" y="3639312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⚡  Pontos que te surpreenderam ou com os quais você discorda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e1f5fefe7d_0_105"/>
          <p:cNvSpPr/>
          <p:nvPr/>
        </p:nvSpPr>
        <p:spPr>
          <a:xfrm>
            <a:off x="457200" y="4078224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💡  Algo que se aplica ao seu trabalho de pesquisa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e1f5fefe7d_0_105"/>
          <p:cNvSpPr/>
          <p:nvPr/>
        </p:nvSpPr>
        <p:spPr>
          <a:xfrm>
            <a:off x="320040" y="4663440"/>
            <a:ext cx="8503800" cy="3474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1f5fefe7d_0_105"/>
          <p:cNvSpPr/>
          <p:nvPr/>
        </p:nvSpPr>
        <p:spPr>
          <a:xfrm>
            <a:off x="320040" y="4663440"/>
            <a:ext cx="8503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1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"Se você fosse dar uma aula de ética, o que não poderia faltar?"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0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1f5fefe7d_0_127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e1f5fefe7d_0_127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CONSTRUÇÃO DOS ALUNOS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e1f5fefe7d_0_127"/>
          <p:cNvSpPr/>
          <p:nvPr/>
        </p:nvSpPr>
        <p:spPr>
          <a:xfrm>
            <a:off x="365760" y="457200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vocês encontraram?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e1f5fefe7d_0_127"/>
          <p:cNvSpPr/>
          <p:nvPr/>
        </p:nvSpPr>
        <p:spPr>
          <a:xfrm>
            <a:off x="365760" y="1078992"/>
            <a:ext cx="1097400" cy="45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e1f5fefe7d_0_127"/>
          <p:cNvSpPr/>
          <p:nvPr/>
        </p:nvSpPr>
        <p:spPr>
          <a:xfrm>
            <a:off x="365760" y="12344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Cada grupo apresenta: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e1f5fefe7d_0_127"/>
          <p:cNvSpPr/>
          <p:nvPr/>
        </p:nvSpPr>
        <p:spPr>
          <a:xfrm>
            <a:off x="320040" y="1664208"/>
            <a:ext cx="8503800" cy="6768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1f5fefe7d_0_127"/>
          <p:cNvSpPr/>
          <p:nvPr/>
        </p:nvSpPr>
        <p:spPr>
          <a:xfrm>
            <a:off x="320040" y="1664208"/>
            <a:ext cx="502800" cy="6768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1f5fefe7d_0_127"/>
          <p:cNvSpPr/>
          <p:nvPr/>
        </p:nvSpPr>
        <p:spPr>
          <a:xfrm>
            <a:off x="320040" y="1664208"/>
            <a:ext cx="502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e1f5fefe7d_0_127"/>
          <p:cNvSpPr/>
          <p:nvPr/>
        </p:nvSpPr>
        <p:spPr>
          <a:xfrm>
            <a:off x="960120" y="1664208"/>
            <a:ext cx="77724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definição ou conceito mais chamou atenção?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e1f5fefe7d_0_127"/>
          <p:cNvSpPr/>
          <p:nvPr/>
        </p:nvSpPr>
        <p:spPr>
          <a:xfrm>
            <a:off x="320040" y="2468880"/>
            <a:ext cx="8503800" cy="6768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e1f5fefe7d_0_127"/>
          <p:cNvSpPr/>
          <p:nvPr/>
        </p:nvSpPr>
        <p:spPr>
          <a:xfrm>
            <a:off x="320040" y="2468880"/>
            <a:ext cx="502800" cy="6768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e1f5fefe7d_0_127"/>
          <p:cNvSpPr/>
          <p:nvPr/>
        </p:nvSpPr>
        <p:spPr>
          <a:xfrm>
            <a:off x="320040" y="2468880"/>
            <a:ext cx="502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e1f5fefe7d_0_127"/>
          <p:cNvSpPr/>
          <p:nvPr/>
        </p:nvSpPr>
        <p:spPr>
          <a:xfrm>
            <a:off x="960120" y="2468880"/>
            <a:ext cx="77724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te surpreendeu ou com o que você discordou?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e1f5fefe7d_0_127"/>
          <p:cNvSpPr/>
          <p:nvPr/>
        </p:nvSpPr>
        <p:spPr>
          <a:xfrm>
            <a:off x="320040" y="3273552"/>
            <a:ext cx="8503800" cy="6768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1f5fefe7d_0_127"/>
          <p:cNvSpPr/>
          <p:nvPr/>
        </p:nvSpPr>
        <p:spPr>
          <a:xfrm>
            <a:off x="320040" y="3273552"/>
            <a:ext cx="502800" cy="6768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e1f5fefe7d_0_127"/>
          <p:cNvSpPr/>
          <p:nvPr/>
        </p:nvSpPr>
        <p:spPr>
          <a:xfrm>
            <a:off x="320040" y="3273552"/>
            <a:ext cx="502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e1f5fefe7d_0_127"/>
          <p:cNvSpPr/>
          <p:nvPr/>
        </p:nvSpPr>
        <p:spPr>
          <a:xfrm>
            <a:off x="960120" y="3273552"/>
            <a:ext cx="77724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situação dos textos poderia acontecer no seu trabalho?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e1f5fefe7d_0_127"/>
          <p:cNvSpPr/>
          <p:nvPr/>
        </p:nvSpPr>
        <p:spPr>
          <a:xfrm>
            <a:off x="320040" y="4078224"/>
            <a:ext cx="8503800" cy="6768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e1f5fefe7d_0_127"/>
          <p:cNvSpPr/>
          <p:nvPr/>
        </p:nvSpPr>
        <p:spPr>
          <a:xfrm>
            <a:off x="320040" y="4078224"/>
            <a:ext cx="502800" cy="6768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1f5fefe7d_0_127"/>
          <p:cNvSpPr/>
          <p:nvPr/>
        </p:nvSpPr>
        <p:spPr>
          <a:xfrm>
            <a:off x="320040" y="4078224"/>
            <a:ext cx="502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1f5fefe7d_0_127"/>
          <p:cNvSpPr/>
          <p:nvPr/>
        </p:nvSpPr>
        <p:spPr>
          <a:xfrm>
            <a:off x="960120" y="4078224"/>
            <a:ext cx="77724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não poderia faltar em uma aula de ética?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ÉTICA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Um pouco de história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320040" y="1325880"/>
            <a:ext cx="4206240" cy="10058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320040" y="1325880"/>
            <a:ext cx="640080" cy="100584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320040" y="1325880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1947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051560" y="139903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Código de Nuremberg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051560" y="176479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Princípios para experimentos com pessoas após WWII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754880" y="1325880"/>
            <a:ext cx="4206240" cy="10058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754880" y="1325880"/>
            <a:ext cx="640080" cy="100584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754880" y="1325880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1964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486400" y="139903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Declaração de Helsinki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486400" y="176479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"O bem-estar do ser humano tem prioridade sobre os interesses da ciência"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320040" y="2468880"/>
            <a:ext cx="4206240" cy="10058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320040" y="2468880"/>
            <a:ext cx="640080" cy="100584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320040" y="2468880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1975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051560" y="254203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Helsinki II — Tóquio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051560" y="290779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Criação dos Comitês de Ética em Pesquisa (CEPs)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754880" y="2468880"/>
            <a:ext cx="4206240" cy="10058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4754880" y="2468880"/>
            <a:ext cx="640080" cy="100584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754880" y="2468880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1988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486400" y="254203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Brasil — Res. 01/88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486400" y="290779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Primeira exigência de CEP registrado junto ao CNS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320040" y="3611880"/>
            <a:ext cx="4206240" cy="10058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320040" y="3611880"/>
            <a:ext cx="640080" cy="100584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320040" y="3611880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1996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51560" y="368503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Resolução CNS 196/96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051560" y="405079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Normas brasileiras para pesquisa com seres humanos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754880" y="3611880"/>
            <a:ext cx="4206240" cy="10058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4754880" y="3611880"/>
            <a:ext cx="640080" cy="100584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4754880" y="3611880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486400" y="368503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Resolução CNS 466/2012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486400" y="405079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Atualização em vigor — referência atual no Brasil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ÉTICA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Princípios — CNS 196/96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320040" y="1325880"/>
            <a:ext cx="4206240" cy="15544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320040" y="1325880"/>
            <a:ext cx="4206240" cy="38404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320040" y="132588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(Respeito à Pessoa)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57200" y="178308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Participação só com consentimento livre e esclarecido. TCLE obrigatório. Proteção especial para vulneráveis.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754880" y="1325880"/>
            <a:ext cx="4206240" cy="15544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754880" y="1325880"/>
            <a:ext cx="4206240" cy="38404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4754880" y="132588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Beneficência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892040" y="178308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Maximizar benefícios. Minimizar riscos físicos, psicológicos, sociais e legais. Risco justificado pelo benefício.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320040" y="3017520"/>
            <a:ext cx="4206240" cy="15544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320040" y="3017520"/>
            <a:ext cx="4206240" cy="38404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320040" y="301752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Não-maleficência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57200" y="34747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Riscos avaliados. Danos previsíveis evitados. Pesquisador tem responsabilidade ativa.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754880" y="3017520"/>
            <a:ext cx="4206240" cy="15544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754880" y="3017520"/>
            <a:ext cx="4206240" cy="38404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4754880" y="301752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Justiça e Equidade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892040" y="34747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Distribuição equitativa de riscos e benefícios. Populações vulneráveis protegidas, não exploradas.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ÉTICA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CEP, CONEP e TCLE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320040" y="1325880"/>
            <a:ext cx="4160520" cy="347472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320040" y="1325880"/>
            <a:ext cx="4160520" cy="38404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320040" y="1325880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Comitê de Ética em Pesquisa (CEP)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57200" y="1828800"/>
            <a:ext cx="3886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Órgão institucional interdisciplinar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Protege o bem-estar de participantes, pesquisadores e sociedade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Avalia todos os projetos com seres humanos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Credenciado pela CONEP (Comissão Nacional)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No Brasil: exigido desde 1988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EUA: equivalente é o IRB (Institutional Review Board)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663440" y="1325880"/>
            <a:ext cx="4160520" cy="347472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4663440" y="1325880"/>
            <a:ext cx="4160520" cy="384048"/>
          </a:xfrm>
          <a:prstGeom prst="rect">
            <a:avLst/>
          </a:prstGeom>
          <a:solidFill>
            <a:srgbClr val="CC5500"/>
          </a:solidFill>
          <a:ln cap="flat" cmpd="sng" w="12700">
            <a:solidFill>
              <a:srgbClr val="CC5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4663440" y="1325880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Termo de Consentimento Livre e Esclarecido (TCLE)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800600" y="1828800"/>
            <a:ext cx="3886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Documento mais importante do envolvimento humano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Deve ser claro e acessível ao participante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Contém: objetivos, método, riscos, benefícios, direitos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Assinado antes do início da pesquisa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Natureza de contrato bilateral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Versões especiais: Braille, letras ampliadas, áudio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ÉTICA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Ética na Engenharia de Software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365760" y="11430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Situações que envolvem seres humanos em ES — e que exigem cuidado ético: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20040" y="1508760"/>
            <a:ext cx="4206240" cy="5943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320040" y="1691640"/>
            <a:ext cx="54864" cy="228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484632" y="150876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Elicitação de requisitos (entrevistas, etnografia)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754880" y="1508760"/>
            <a:ext cx="4206240" cy="5943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4754880" y="1691640"/>
            <a:ext cx="54864" cy="228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4919472" y="150876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Testes de usabilidade e IHC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20040" y="2240280"/>
            <a:ext cx="4206240" cy="5943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320040" y="2423160"/>
            <a:ext cx="54864" cy="228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484632" y="224028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Auditorias e avaliações de maturidade (CMMI)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754880" y="2240280"/>
            <a:ext cx="4206240" cy="5943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4754880" y="2423160"/>
            <a:ext cx="54864" cy="228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4919472" y="224028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Questionários online de satisfação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320040" y="2971800"/>
            <a:ext cx="4206240" cy="5943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320040" y="3154680"/>
            <a:ext cx="54864" cy="228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484632" y="297180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Monitoramento remoto de uso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4754880" y="2971800"/>
            <a:ext cx="4206240" cy="5943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4754880" y="3154680"/>
            <a:ext cx="54864" cy="228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4919472" y="297180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Experimentos controlados em ESE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Filgueiras &amp; Silva (2008): projetos de ES raramente são submetidos a CEPs — mas têm potencial real de causar dano.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ÉTICA · CASES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Reais — Discussão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320040" y="132588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320040" y="132588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484632" y="1417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 Facebook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84632" y="173736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Experimento de manipulação emocional em 700k usuários sem consentimento explícito. Quais os limites?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4754880" y="132588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4754880" y="132588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4919472" y="1417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Imagem sem autorização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4919472" y="173736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Pesquisadora coleta imagens de participantes para análise — empresa usa em evento promocional.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320040" y="251460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320040" y="251460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484632" y="26060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TCLE em tinta para cego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484632" y="292608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Pessoa cega assina termo de consentimento impresso em tinta. O que falhou?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754880" y="251460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4754880" y="251460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4919472" y="26060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Funcionário identificado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4919472" y="292608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Opinião anônima em auditoria permite identificar o funcionário pelo teor. Consequências?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320040" y="370332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320040" y="370332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484632" y="37947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Pesquisa com crianças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484632" y="411480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Quais proteções adicionais são exigidas? Quem deve consentir?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754880" y="370332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4754880" y="370332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4919472" y="37947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Plágio / Autoria indevida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4919472" y="411480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Professor exige coautoria sem contribuição. Submissão simultânea a duas conferências.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1f5fefe7d_0_4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e1f5fefe7d_0_40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ÉTICA · CASES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e1f5fefe7d_0_40"/>
          <p:cNvSpPr/>
          <p:nvPr/>
        </p:nvSpPr>
        <p:spPr>
          <a:xfrm>
            <a:off x="365760" y="41148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Reais — Discussão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e1f5fefe7d_0_40"/>
          <p:cNvSpPr/>
          <p:nvPr/>
        </p:nvSpPr>
        <p:spPr>
          <a:xfrm>
            <a:off x="365760" y="1005840"/>
            <a:ext cx="1097400" cy="45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g3e1f5fefe7d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800" y="1143100"/>
            <a:ext cx="7429499" cy="385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1f5fefe7d_0_7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e1f5fefe7d_0_73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ÉTICA · CASES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e1f5fefe7d_0_73"/>
          <p:cNvSpPr/>
          <p:nvPr/>
        </p:nvSpPr>
        <p:spPr>
          <a:xfrm>
            <a:off x="365760" y="41148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Reais — Discussão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e1f5fefe7d_0_73"/>
          <p:cNvSpPr/>
          <p:nvPr/>
        </p:nvSpPr>
        <p:spPr>
          <a:xfrm>
            <a:off x="365760" y="1005840"/>
            <a:ext cx="1097400" cy="45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e1f5fefe7d_0_73"/>
          <p:cNvSpPr/>
          <p:nvPr/>
        </p:nvSpPr>
        <p:spPr>
          <a:xfrm>
            <a:off x="320040" y="1325880"/>
            <a:ext cx="4206300" cy="10791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e1f5fefe7d_0_73"/>
          <p:cNvSpPr/>
          <p:nvPr/>
        </p:nvSpPr>
        <p:spPr>
          <a:xfrm>
            <a:off x="320040" y="1325880"/>
            <a:ext cx="54900" cy="10791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e1f5fefe7d_0_73"/>
          <p:cNvSpPr/>
          <p:nvPr/>
        </p:nvSpPr>
        <p:spPr>
          <a:xfrm>
            <a:off x="484632" y="141732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 Facebook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e1f5fefe7d_0_73"/>
          <p:cNvSpPr/>
          <p:nvPr/>
        </p:nvSpPr>
        <p:spPr>
          <a:xfrm>
            <a:off x="484632" y="1737360"/>
            <a:ext cx="3931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Experimento de manipulação emocional em 700k usuários sem consentimento explícito. Quais os limites?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e1f5fefe7d_0_73"/>
          <p:cNvSpPr/>
          <p:nvPr/>
        </p:nvSpPr>
        <p:spPr>
          <a:xfrm>
            <a:off x="4754880" y="1325880"/>
            <a:ext cx="4206300" cy="10791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e1f5fefe7d_0_73"/>
          <p:cNvSpPr/>
          <p:nvPr/>
        </p:nvSpPr>
        <p:spPr>
          <a:xfrm>
            <a:off x="4754880" y="1325880"/>
            <a:ext cx="54900" cy="10791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e1f5fefe7d_0_73"/>
          <p:cNvSpPr/>
          <p:nvPr/>
        </p:nvSpPr>
        <p:spPr>
          <a:xfrm>
            <a:off x="4919472" y="141732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Imagem sem autorização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e1f5fefe7d_0_73"/>
          <p:cNvSpPr/>
          <p:nvPr/>
        </p:nvSpPr>
        <p:spPr>
          <a:xfrm>
            <a:off x="4919472" y="1737360"/>
            <a:ext cx="3931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Pesquisadora coleta imagens de participantes para análise — empresa usa em evento promocional.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e1f5fefe7d_0_73"/>
          <p:cNvSpPr/>
          <p:nvPr/>
        </p:nvSpPr>
        <p:spPr>
          <a:xfrm>
            <a:off x="320040" y="2514600"/>
            <a:ext cx="4206300" cy="10791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e1f5fefe7d_0_73"/>
          <p:cNvSpPr/>
          <p:nvPr/>
        </p:nvSpPr>
        <p:spPr>
          <a:xfrm>
            <a:off x="320040" y="2514600"/>
            <a:ext cx="54900" cy="10791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e1f5fefe7d_0_73"/>
          <p:cNvSpPr/>
          <p:nvPr/>
        </p:nvSpPr>
        <p:spPr>
          <a:xfrm>
            <a:off x="484632" y="260604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TCLE em tinta para cego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e1f5fefe7d_0_73"/>
          <p:cNvSpPr/>
          <p:nvPr/>
        </p:nvSpPr>
        <p:spPr>
          <a:xfrm>
            <a:off x="484632" y="2926080"/>
            <a:ext cx="3931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Pessoa cega assina termo de consentimento impresso em tinta.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e1f5fefe7d_0_73"/>
          <p:cNvSpPr/>
          <p:nvPr/>
        </p:nvSpPr>
        <p:spPr>
          <a:xfrm>
            <a:off x="4754880" y="2514600"/>
            <a:ext cx="4206300" cy="10791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e1f5fefe7d_0_73"/>
          <p:cNvSpPr/>
          <p:nvPr/>
        </p:nvSpPr>
        <p:spPr>
          <a:xfrm>
            <a:off x="4754880" y="2514600"/>
            <a:ext cx="54900" cy="10791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e1f5fefe7d_0_73"/>
          <p:cNvSpPr/>
          <p:nvPr/>
        </p:nvSpPr>
        <p:spPr>
          <a:xfrm>
            <a:off x="4919472" y="260604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Funcionário identificado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e1f5fefe7d_0_73"/>
          <p:cNvSpPr/>
          <p:nvPr/>
        </p:nvSpPr>
        <p:spPr>
          <a:xfrm>
            <a:off x="4919472" y="2926080"/>
            <a:ext cx="3931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Opinião anônima em auditoria permite identificar o funcionário pelo teor. Consequências?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e1f5fefe7d_0_73"/>
          <p:cNvSpPr/>
          <p:nvPr/>
        </p:nvSpPr>
        <p:spPr>
          <a:xfrm>
            <a:off x="320040" y="3703320"/>
            <a:ext cx="4206300" cy="10791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e1f5fefe7d_0_73"/>
          <p:cNvSpPr/>
          <p:nvPr/>
        </p:nvSpPr>
        <p:spPr>
          <a:xfrm>
            <a:off x="320040" y="3703320"/>
            <a:ext cx="54900" cy="10791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e1f5fefe7d_0_73"/>
          <p:cNvSpPr/>
          <p:nvPr/>
        </p:nvSpPr>
        <p:spPr>
          <a:xfrm>
            <a:off x="484632" y="379476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Pesquisa com crianças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e1f5fefe7d_0_73"/>
          <p:cNvSpPr/>
          <p:nvPr/>
        </p:nvSpPr>
        <p:spPr>
          <a:xfrm>
            <a:off x="484632" y="4114800"/>
            <a:ext cx="3931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Quais proteções adicionais são exigidas? Quem deve consentir?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e1f5fefe7d_0_73"/>
          <p:cNvSpPr/>
          <p:nvPr/>
        </p:nvSpPr>
        <p:spPr>
          <a:xfrm>
            <a:off x="4754880" y="3703320"/>
            <a:ext cx="4206300" cy="10791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e1f5fefe7d_0_73"/>
          <p:cNvSpPr/>
          <p:nvPr/>
        </p:nvSpPr>
        <p:spPr>
          <a:xfrm>
            <a:off x="4754880" y="3703320"/>
            <a:ext cx="54900" cy="10791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e1f5fefe7d_0_73"/>
          <p:cNvSpPr/>
          <p:nvPr/>
        </p:nvSpPr>
        <p:spPr>
          <a:xfrm>
            <a:off x="4919472" y="379476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Plágio / Autoria indevida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e1f5fefe7d_0_73"/>
          <p:cNvSpPr/>
          <p:nvPr/>
        </p:nvSpPr>
        <p:spPr>
          <a:xfrm>
            <a:off x="4919472" y="4114800"/>
            <a:ext cx="3931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Professor exige coautoria sem contribuição. Submissão simultânea a duas conferências.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Ler Artigos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Científicos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França (2012)  ·  SBC Horizontes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457200" y="3429000"/>
            <a:ext cx="137160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França (2012)  ·  SBC Horizontes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2 — LEITURA DE ARTIGOS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365750" y="6091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Arial"/>
              <a:buNone/>
            </a:pPr>
            <a:r>
              <a:rPr lang="en-US" sz="3200">
                <a:solidFill>
                  <a:schemeClr val="lt1"/>
                </a:solidFill>
              </a:rPr>
              <a:t>Leitura de </a:t>
            </a: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França (2012)  ·  SBC Horizontes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365750" y="18283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Arial"/>
              <a:buNone/>
            </a:pPr>
            <a:r>
              <a:rPr lang="en-US" sz="3200">
                <a:solidFill>
                  <a:schemeClr val="lt1"/>
                </a:solidFill>
              </a:rPr>
              <a:t>Como você daria uma aula sobre o artigo?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e1f5fefe7d_0_254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e1f5fefe7d_0_254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2 — LEITURA DE ARTIGOS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e1f5fefe7d_0_254"/>
          <p:cNvSpPr/>
          <p:nvPr/>
        </p:nvSpPr>
        <p:spPr>
          <a:xfrm>
            <a:off x="365760" y="41148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que ler artigos é diferente?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e1f5fefe7d_0_254"/>
          <p:cNvSpPr/>
          <p:nvPr/>
        </p:nvSpPr>
        <p:spPr>
          <a:xfrm>
            <a:off x="365760" y="1005840"/>
            <a:ext cx="1097400" cy="45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e1f5fefe7d_0_254"/>
          <p:cNvSpPr/>
          <p:nvPr/>
        </p:nvSpPr>
        <p:spPr>
          <a:xfrm>
            <a:off x="320040" y="1280160"/>
            <a:ext cx="4023300" cy="35205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e1f5fefe7d_0_254"/>
          <p:cNvSpPr/>
          <p:nvPr/>
        </p:nvSpPr>
        <p:spPr>
          <a:xfrm>
            <a:off x="320040" y="1280160"/>
            <a:ext cx="4023300" cy="3840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e1f5fefe7d_0_254"/>
          <p:cNvSpPr/>
          <p:nvPr/>
        </p:nvSpPr>
        <p:spPr>
          <a:xfrm>
            <a:off x="320040" y="1280160"/>
            <a:ext cx="4023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❌  Leitura linear — a mais ineficaz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e1f5fefe7d_0_254"/>
          <p:cNvSpPr/>
          <p:nvPr/>
        </p:nvSpPr>
        <p:spPr>
          <a:xfrm>
            <a:off x="457200" y="1783080"/>
            <a:ext cx="3749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Você lê da página 1 até o fim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Sem mapa mental do artigo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Contexto antes das conclusões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Perde muito tempo em partes irrelevantes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Dificuldade de reter o que foi lido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e1f5fefe7d_0_254"/>
          <p:cNvSpPr/>
          <p:nvPr/>
        </p:nvSpPr>
        <p:spPr>
          <a:xfrm>
            <a:off x="4572000" y="1280160"/>
            <a:ext cx="4251900" cy="35205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e1f5fefe7d_0_254"/>
          <p:cNvSpPr/>
          <p:nvPr/>
        </p:nvSpPr>
        <p:spPr>
          <a:xfrm>
            <a:off x="4572000" y="1280160"/>
            <a:ext cx="4251900" cy="3840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e1f5fefe7d_0_254"/>
          <p:cNvSpPr/>
          <p:nvPr/>
        </p:nvSpPr>
        <p:spPr>
          <a:xfrm>
            <a:off x="4572000" y="1280160"/>
            <a:ext cx="425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  Leitura não-linear — o método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e1f5fefe7d_0_254"/>
          <p:cNvSpPr/>
          <p:nvPr/>
        </p:nvSpPr>
        <p:spPr>
          <a:xfrm>
            <a:off x="4709160" y="1783080"/>
            <a:ext cx="39777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Você navega entre as partes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Entende a estrutura antes de mergulhar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Conclusões antes do método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Decide conscientemente o que merece atenção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Integra conhecimento novo ao que já sabe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2 — LEITURA DE ARTIGOS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método em 3 passos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274320" y="1280160"/>
            <a:ext cx="2788920" cy="35661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274320" y="1280160"/>
            <a:ext cx="2788920" cy="64008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4"/>
          <p:cNvSpPr/>
          <p:nvPr/>
        </p:nvSpPr>
        <p:spPr>
          <a:xfrm>
            <a:off x="274320" y="1280160"/>
            <a:ext cx="502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777240" y="128016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Diagonal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(Skimming)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411480" y="2011680"/>
            <a:ext cx="2514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Título + Resumo → navegue livremente → Conclusão.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Resposta aos 5 C's de Keshav.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Decida: vale continuar?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3200400" y="1280160"/>
            <a:ext cx="2788920" cy="35661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4"/>
          <p:cNvSpPr/>
          <p:nvPr/>
        </p:nvSpPr>
        <p:spPr>
          <a:xfrm>
            <a:off x="3200400" y="1280160"/>
            <a:ext cx="2788920" cy="64008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4"/>
          <p:cNvSpPr/>
          <p:nvPr/>
        </p:nvSpPr>
        <p:spPr>
          <a:xfrm>
            <a:off x="3200400" y="1280160"/>
            <a:ext cx="502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3703320" y="128016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Profunda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(Deep Comprehension)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3337560" y="2011680"/>
            <a:ext cx="2514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De trás pra frente: Conclusão → Discussão → Resultados → Método → Referencial.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"Como o autor chegou aqui?"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6126480" y="1280160"/>
            <a:ext cx="2788920" cy="35661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6126480" y="1280160"/>
            <a:ext cx="2788920" cy="64008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6126480" y="1280160"/>
            <a:ext cx="502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6629400" y="128016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Reflexão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6263640" y="2011680"/>
            <a:ext cx="2514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Coloque em cheque as conclusões.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Você concorda? Há interpretações alternativas?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Como isso se conecta ao seu trabalho?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2 — LEITURA DE ARTIGOS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Os 5 C's de Keshav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1463060" y="929565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Checklist da Leitura Diagonal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5"/>
          <p:cNvSpPr/>
          <p:nvPr/>
        </p:nvSpPr>
        <p:spPr>
          <a:xfrm>
            <a:off x="320040" y="1325880"/>
            <a:ext cx="8503920" cy="65836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320040" y="1325880"/>
            <a:ext cx="475488" cy="65836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5"/>
          <p:cNvSpPr/>
          <p:nvPr/>
        </p:nvSpPr>
        <p:spPr>
          <a:xfrm>
            <a:off x="320040" y="1325880"/>
            <a:ext cx="4754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914400" y="139903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Categoria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914400" y="167335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Que tipo de pesquisa é esta? (survey, experimento, estudo de caso...)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320040" y="2075688"/>
            <a:ext cx="8503920" cy="65836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320040" y="2075688"/>
            <a:ext cx="475488" cy="65836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320040" y="2075688"/>
            <a:ext cx="4754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914400" y="21488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914400" y="242316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Em quais teorias e trabalhos anteriores o artigo se apoia?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320040" y="2825496"/>
            <a:ext cx="8503920" cy="65836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320040" y="2825496"/>
            <a:ext cx="475488" cy="65836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5"/>
          <p:cNvSpPr/>
          <p:nvPr/>
        </p:nvSpPr>
        <p:spPr>
          <a:xfrm>
            <a:off x="320040" y="2825496"/>
            <a:ext cx="4754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914400" y="289864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Corretude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914400" y="317296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As premissas parecem válidas? As conclusões são sustentadas?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320040" y="3575304"/>
            <a:ext cx="8503920" cy="65836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320040" y="3575304"/>
            <a:ext cx="475488" cy="65836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320040" y="3575304"/>
            <a:ext cx="4754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914400" y="3648456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Contribuição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914400" y="392277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Quais são as principais conclusões e contribuições do artigo?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320040" y="4325112"/>
            <a:ext cx="8503920" cy="65836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320040" y="4325112"/>
            <a:ext cx="475488" cy="65836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320040" y="4325112"/>
            <a:ext cx="4754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914400" y="4398264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Clareza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914400" y="467258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artigo está bem escrito e organizado?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6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2 — LEITURA DE ARTIGOS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Profunda — De trás pra frente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6"/>
          <p:cNvSpPr/>
          <p:nvPr/>
        </p:nvSpPr>
        <p:spPr>
          <a:xfrm>
            <a:off x="365760" y="1143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Comece pela conclusão e trabalhe de volta: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320040" y="1508760"/>
            <a:ext cx="1554480" cy="4572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6"/>
          <p:cNvSpPr/>
          <p:nvPr/>
        </p:nvSpPr>
        <p:spPr>
          <a:xfrm>
            <a:off x="320040" y="15087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16"/>
          <p:cNvCxnSpPr/>
          <p:nvPr/>
        </p:nvCxnSpPr>
        <p:spPr>
          <a:xfrm>
            <a:off x="1920240" y="173736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p16"/>
          <p:cNvSpPr/>
          <p:nvPr/>
        </p:nvSpPr>
        <p:spPr>
          <a:xfrm>
            <a:off x="2286000" y="150876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que o autor afirma que mostra?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320040" y="2618232"/>
            <a:ext cx="1554600" cy="4572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6"/>
          <p:cNvSpPr/>
          <p:nvPr/>
        </p:nvSpPr>
        <p:spPr>
          <a:xfrm>
            <a:off x="320040" y="2618232"/>
            <a:ext cx="155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Discussão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7" name="Google Shape;467;p16"/>
          <p:cNvCxnSpPr/>
          <p:nvPr/>
        </p:nvCxnSpPr>
        <p:spPr>
          <a:xfrm>
            <a:off x="1920240" y="2846832"/>
            <a:ext cx="274200" cy="0"/>
          </a:xfrm>
          <a:prstGeom prst="straightConnector1">
            <a:avLst/>
          </a:prstGeom>
          <a:noFill/>
          <a:ln cap="flat" cmpd="sng" w="1905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16"/>
          <p:cNvSpPr/>
          <p:nvPr/>
        </p:nvSpPr>
        <p:spPr>
          <a:xfrm>
            <a:off x="2286000" y="2618232"/>
            <a:ext cx="6492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Como chegou a essa conclusão? A interpretação está correta?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320040" y="3236976"/>
            <a:ext cx="1554480" cy="4572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6"/>
          <p:cNvSpPr/>
          <p:nvPr/>
        </p:nvSpPr>
        <p:spPr>
          <a:xfrm>
            <a:off x="320040" y="323697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1" name="Google Shape;471;p16"/>
          <p:cNvCxnSpPr/>
          <p:nvPr/>
        </p:nvCxnSpPr>
        <p:spPr>
          <a:xfrm>
            <a:off x="1920240" y="3465576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2" name="Google Shape;472;p16"/>
          <p:cNvSpPr/>
          <p:nvPr/>
        </p:nvSpPr>
        <p:spPr>
          <a:xfrm>
            <a:off x="2286000" y="3236976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Como os dados foram coletados? O que foi medido?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320040" y="3813048"/>
            <a:ext cx="1554480" cy="4572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6"/>
          <p:cNvSpPr/>
          <p:nvPr/>
        </p:nvSpPr>
        <p:spPr>
          <a:xfrm>
            <a:off x="320040" y="381304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Referencial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5" name="Google Shape;475;p16"/>
          <p:cNvCxnSpPr/>
          <p:nvPr/>
        </p:nvCxnSpPr>
        <p:spPr>
          <a:xfrm>
            <a:off x="1920240" y="4041648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p16"/>
          <p:cNvSpPr/>
          <p:nvPr/>
        </p:nvSpPr>
        <p:spPr>
          <a:xfrm>
            <a:off x="2286000" y="3813048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Que teorias foram usadas? O que o autor entende por X?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320040" y="4389120"/>
            <a:ext cx="1554480" cy="4572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6"/>
          <p:cNvSpPr/>
          <p:nvPr/>
        </p:nvSpPr>
        <p:spPr>
          <a:xfrm>
            <a:off x="320040" y="438912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9" name="Google Shape;479;p16"/>
          <p:cNvCxnSpPr/>
          <p:nvPr/>
        </p:nvCxnSpPr>
        <p:spPr>
          <a:xfrm>
            <a:off x="1920240" y="461772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0" name="Google Shape;480;p16"/>
          <p:cNvSpPr/>
          <p:nvPr/>
        </p:nvSpPr>
        <p:spPr>
          <a:xfrm>
            <a:off x="2286000" y="438912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Em que contexto de pesquisa este trabalho se encaixa?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320040" y="2051304"/>
            <a:ext cx="1554600" cy="4572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6"/>
          <p:cNvSpPr/>
          <p:nvPr/>
        </p:nvSpPr>
        <p:spPr>
          <a:xfrm>
            <a:off x="320040" y="2051304"/>
            <a:ext cx="155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3" name="Google Shape;483;p16"/>
          <p:cNvCxnSpPr/>
          <p:nvPr/>
        </p:nvCxnSpPr>
        <p:spPr>
          <a:xfrm>
            <a:off x="1920240" y="2279904"/>
            <a:ext cx="274200" cy="0"/>
          </a:xfrm>
          <a:prstGeom prst="straightConnector1">
            <a:avLst/>
          </a:prstGeom>
          <a:noFill/>
          <a:ln cap="flat" cmpd="sng" w="1905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4" name="Google Shape;484;p16"/>
          <p:cNvSpPr/>
          <p:nvPr/>
        </p:nvSpPr>
        <p:spPr>
          <a:xfrm>
            <a:off x="2286000" y="2051304"/>
            <a:ext cx="6492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Os dados realmente suportam a conclusão?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Trabalhos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Relacionados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Leitura • Construção • Consolidação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457200" y="3429000"/>
            <a:ext cx="137160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01A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1f5fefe7d_0_152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e1f5fefe7d_0_152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LEITURA ATIVA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e1f5fefe7d_0_152"/>
          <p:cNvSpPr/>
          <p:nvPr/>
        </p:nvSpPr>
        <p:spPr>
          <a:xfrm>
            <a:off x="365760" y="457200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— Seções de Trabalhos Relacionados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e1f5fefe7d_0_152"/>
          <p:cNvSpPr/>
          <p:nvPr/>
        </p:nvSpPr>
        <p:spPr>
          <a:xfrm>
            <a:off x="365760" y="1078992"/>
            <a:ext cx="1097400" cy="45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e1f5fefe7d_0_152"/>
          <p:cNvSpPr/>
          <p:nvPr/>
        </p:nvSpPr>
        <p:spPr>
          <a:xfrm>
            <a:off x="365760" y="1207008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Você vai receber duas seções de TR de artigos reais. Para cada uma, responda: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e1f5fefe7d_0_152"/>
          <p:cNvSpPr/>
          <p:nvPr/>
        </p:nvSpPr>
        <p:spPr>
          <a:xfrm>
            <a:off x="320040" y="1719072"/>
            <a:ext cx="8503800" cy="9327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e1f5fefe7d_0_152"/>
          <p:cNvSpPr/>
          <p:nvPr/>
        </p:nvSpPr>
        <p:spPr>
          <a:xfrm>
            <a:off x="320040" y="1719072"/>
            <a:ext cx="54900" cy="9327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e1f5fefe7d_0_152"/>
          <p:cNvSpPr/>
          <p:nvPr/>
        </p:nvSpPr>
        <p:spPr>
          <a:xfrm>
            <a:off x="502920" y="1792224"/>
            <a:ext cx="8229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o autor fez?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e1f5fefe7d_0_152"/>
          <p:cNvSpPr/>
          <p:nvPr/>
        </p:nvSpPr>
        <p:spPr>
          <a:xfrm>
            <a:off x="502920" y="2139696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Resuma em uma frase o que está sendo apresentado.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e1f5fefe7d_0_152"/>
          <p:cNvSpPr/>
          <p:nvPr/>
        </p:nvSpPr>
        <p:spPr>
          <a:xfrm>
            <a:off x="320040" y="2761488"/>
            <a:ext cx="8503800" cy="9327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e1f5fefe7d_0_152"/>
          <p:cNvSpPr/>
          <p:nvPr/>
        </p:nvSpPr>
        <p:spPr>
          <a:xfrm>
            <a:off x="320040" y="2761488"/>
            <a:ext cx="54900" cy="9327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e1f5fefe7d_0_152"/>
          <p:cNvSpPr/>
          <p:nvPr/>
        </p:nvSpPr>
        <p:spPr>
          <a:xfrm>
            <a:off x="502920" y="2834640"/>
            <a:ext cx="8229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Isso é TR ou Fundamentação?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e1f5fefe7d_0_152"/>
          <p:cNvSpPr/>
          <p:nvPr/>
        </p:nvSpPr>
        <p:spPr>
          <a:xfrm>
            <a:off x="502920" y="3182112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autor compara com trabalhos existentes ou define conceitos? Ou mistura os dois?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e1f5fefe7d_0_152"/>
          <p:cNvSpPr/>
          <p:nvPr/>
        </p:nvSpPr>
        <p:spPr>
          <a:xfrm>
            <a:off x="320040" y="3803904"/>
            <a:ext cx="8503800" cy="9327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e1f5fefe7d_0_152"/>
          <p:cNvSpPr/>
          <p:nvPr/>
        </p:nvSpPr>
        <p:spPr>
          <a:xfrm>
            <a:off x="320040" y="3803904"/>
            <a:ext cx="54900" cy="9327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e1f5fefe7d_0_152"/>
          <p:cNvSpPr/>
          <p:nvPr/>
        </p:nvSpPr>
        <p:spPr>
          <a:xfrm>
            <a:off x="502920" y="3877056"/>
            <a:ext cx="8229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falta?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e1f5fefe7d_0_152"/>
          <p:cNvSpPr/>
          <p:nvPr/>
        </p:nvSpPr>
        <p:spPr>
          <a:xfrm>
            <a:off x="502920" y="422452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Há gap identificado? A seção conecta com o problema do artigo? A citação é crítica ou decorativa?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01A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e1f5fefe7d_0_17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e1f5fefe7d_0_173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APRESENTAÇÃO DOS ALUNOS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e1f5fefe7d_0_173"/>
          <p:cNvSpPr/>
          <p:nvPr/>
        </p:nvSpPr>
        <p:spPr>
          <a:xfrm>
            <a:off x="365760" y="457200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vocês encontraram nos TRs?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e1f5fefe7d_0_173"/>
          <p:cNvSpPr/>
          <p:nvPr/>
        </p:nvSpPr>
        <p:spPr>
          <a:xfrm>
            <a:off x="365760" y="1078992"/>
            <a:ext cx="1097400" cy="45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e1f5fefe7d_0_173"/>
          <p:cNvSpPr/>
          <p:nvPr/>
        </p:nvSpPr>
        <p:spPr>
          <a:xfrm>
            <a:off x="365760" y="120700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Cada grupo apresenta sua análise: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e1f5fefe7d_0_173"/>
          <p:cNvSpPr/>
          <p:nvPr/>
        </p:nvSpPr>
        <p:spPr>
          <a:xfrm>
            <a:off x="320040" y="1664208"/>
            <a:ext cx="8503800" cy="6768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e1f5fefe7d_0_173"/>
          <p:cNvSpPr/>
          <p:nvPr/>
        </p:nvSpPr>
        <p:spPr>
          <a:xfrm>
            <a:off x="320040" y="1664208"/>
            <a:ext cx="502800" cy="6768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e1f5fefe7d_0_173"/>
          <p:cNvSpPr/>
          <p:nvPr/>
        </p:nvSpPr>
        <p:spPr>
          <a:xfrm>
            <a:off x="320040" y="1664208"/>
            <a:ext cx="502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e1f5fefe7d_0_173"/>
          <p:cNvSpPr/>
          <p:nvPr/>
        </p:nvSpPr>
        <p:spPr>
          <a:xfrm>
            <a:off x="960120" y="1664208"/>
            <a:ext cx="77724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o autor fez — em uma frase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e1f5fefe7d_0_173"/>
          <p:cNvSpPr/>
          <p:nvPr/>
        </p:nvSpPr>
        <p:spPr>
          <a:xfrm>
            <a:off x="320040" y="2468880"/>
            <a:ext cx="8503800" cy="6768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e1f5fefe7d_0_173"/>
          <p:cNvSpPr/>
          <p:nvPr/>
        </p:nvSpPr>
        <p:spPr>
          <a:xfrm>
            <a:off x="320040" y="2468880"/>
            <a:ext cx="502800" cy="6768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e1f5fefe7d_0_173"/>
          <p:cNvSpPr/>
          <p:nvPr/>
        </p:nvSpPr>
        <p:spPr>
          <a:xfrm>
            <a:off x="320040" y="2468880"/>
            <a:ext cx="502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e1f5fefe7d_0_173"/>
          <p:cNvSpPr/>
          <p:nvPr/>
        </p:nvSpPr>
        <p:spPr>
          <a:xfrm>
            <a:off x="960120" y="2468880"/>
            <a:ext cx="77724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 ou Fundamentação? Por quê?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e1f5fefe7d_0_173"/>
          <p:cNvSpPr/>
          <p:nvPr/>
        </p:nvSpPr>
        <p:spPr>
          <a:xfrm>
            <a:off x="320040" y="3273552"/>
            <a:ext cx="8503800" cy="6768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e1f5fefe7d_0_173"/>
          <p:cNvSpPr/>
          <p:nvPr/>
        </p:nvSpPr>
        <p:spPr>
          <a:xfrm>
            <a:off x="320040" y="3273552"/>
            <a:ext cx="502800" cy="6768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e1f5fefe7d_0_173"/>
          <p:cNvSpPr/>
          <p:nvPr/>
        </p:nvSpPr>
        <p:spPr>
          <a:xfrm>
            <a:off x="320040" y="3273552"/>
            <a:ext cx="502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e1f5fefe7d_0_173"/>
          <p:cNvSpPr/>
          <p:nvPr/>
        </p:nvSpPr>
        <p:spPr>
          <a:xfrm>
            <a:off x="960120" y="3273552"/>
            <a:ext cx="77724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gap está claro? A citação é crítica ou decorativa?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e1f5fefe7d_0_173"/>
          <p:cNvSpPr/>
          <p:nvPr/>
        </p:nvSpPr>
        <p:spPr>
          <a:xfrm>
            <a:off x="320040" y="4078224"/>
            <a:ext cx="8503800" cy="6768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g3e1f5fefe7d_0_173"/>
          <p:cNvSpPr/>
          <p:nvPr/>
        </p:nvSpPr>
        <p:spPr>
          <a:xfrm>
            <a:off x="320040" y="4078224"/>
            <a:ext cx="502800" cy="6768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3e1f5fefe7d_0_173"/>
          <p:cNvSpPr/>
          <p:nvPr/>
        </p:nvSpPr>
        <p:spPr>
          <a:xfrm>
            <a:off x="320040" y="4078224"/>
            <a:ext cx="502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3e1f5fefe7d_0_173"/>
          <p:cNvSpPr/>
          <p:nvPr/>
        </p:nvSpPr>
        <p:spPr>
          <a:xfrm>
            <a:off x="960120" y="4078224"/>
            <a:ext cx="77724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mudaria para tornar esse TR mais forte?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D00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e1f5fefe7d_0_198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e1f5fefe7d_0_198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ATIVAÇÃO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e1f5fefe7d_0_198"/>
          <p:cNvSpPr/>
          <p:nvPr/>
        </p:nvSpPr>
        <p:spPr>
          <a:xfrm>
            <a:off x="365760" y="457200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— Referenciais Teóricos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e1f5fefe7d_0_198"/>
          <p:cNvSpPr/>
          <p:nvPr/>
        </p:nvSpPr>
        <p:spPr>
          <a:xfrm>
            <a:off x="365760" y="1078992"/>
            <a:ext cx="1097400" cy="45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e1f5fefe7d_0_198"/>
          <p:cNvSpPr/>
          <p:nvPr/>
        </p:nvSpPr>
        <p:spPr>
          <a:xfrm>
            <a:off x="365760" y="1207008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Você vai receber trechos de referenciais teóricos de dissertações. Observe e responda: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e1f5fefe7d_0_198"/>
          <p:cNvSpPr/>
          <p:nvPr/>
        </p:nvSpPr>
        <p:spPr>
          <a:xfrm>
            <a:off x="320040" y="1719072"/>
            <a:ext cx="8503800" cy="6948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3e1f5fefe7d_0_198"/>
          <p:cNvSpPr/>
          <p:nvPr/>
        </p:nvSpPr>
        <p:spPr>
          <a:xfrm>
            <a:off x="320040" y="1719072"/>
            <a:ext cx="54900" cy="6948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g3e1f5fefe7d_0_198"/>
          <p:cNvSpPr/>
          <p:nvPr/>
        </p:nvSpPr>
        <p:spPr>
          <a:xfrm>
            <a:off x="502920" y="178308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O que tem de padrão?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e1f5fefe7d_0_198"/>
          <p:cNvSpPr/>
          <p:nvPr/>
        </p:nvSpPr>
        <p:spPr>
          <a:xfrm>
            <a:off x="502920" y="2103120"/>
            <a:ext cx="7909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Como o autor organiza o texto? Quais elementos se repetem?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e1f5fefe7d_0_198"/>
          <p:cNvSpPr/>
          <p:nvPr/>
        </p:nvSpPr>
        <p:spPr>
          <a:xfrm>
            <a:off x="320040" y="2523744"/>
            <a:ext cx="8503800" cy="6948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3e1f5fefe7d_0_198"/>
          <p:cNvSpPr/>
          <p:nvPr/>
        </p:nvSpPr>
        <p:spPr>
          <a:xfrm>
            <a:off x="320040" y="2523744"/>
            <a:ext cx="54900" cy="6948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e1f5fefe7d_0_198"/>
          <p:cNvSpPr/>
          <p:nvPr/>
        </p:nvSpPr>
        <p:spPr>
          <a:xfrm>
            <a:off x="502920" y="258775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O que é citação?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e1f5fefe7d_0_198"/>
          <p:cNvSpPr/>
          <p:nvPr/>
        </p:nvSpPr>
        <p:spPr>
          <a:xfrm>
            <a:off x="502920" y="2907792"/>
            <a:ext cx="7909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Onde o autor está reproduzindo ou referenciando outro trabalho?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e1f5fefe7d_0_198"/>
          <p:cNvSpPr/>
          <p:nvPr/>
        </p:nvSpPr>
        <p:spPr>
          <a:xfrm>
            <a:off x="320040" y="3328416"/>
            <a:ext cx="8503800" cy="6948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e1f5fefe7d_0_198"/>
          <p:cNvSpPr/>
          <p:nvPr/>
        </p:nvSpPr>
        <p:spPr>
          <a:xfrm>
            <a:off x="320040" y="3328416"/>
            <a:ext cx="54900" cy="6948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e1f5fefe7d_0_198"/>
          <p:cNvSpPr/>
          <p:nvPr/>
        </p:nvSpPr>
        <p:spPr>
          <a:xfrm>
            <a:off x="502920" y="3392424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O que é síntese?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g3e1f5fefe7d_0_198"/>
          <p:cNvSpPr/>
          <p:nvPr/>
        </p:nvSpPr>
        <p:spPr>
          <a:xfrm>
            <a:off x="502920" y="3712464"/>
            <a:ext cx="7909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Onde o autor conecta e interpreta — com voz própria?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e1f5fefe7d_0_198"/>
          <p:cNvSpPr/>
          <p:nvPr/>
        </p:nvSpPr>
        <p:spPr>
          <a:xfrm>
            <a:off x="320040" y="4133088"/>
            <a:ext cx="8503800" cy="6948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e1f5fefe7d_0_198"/>
          <p:cNvSpPr/>
          <p:nvPr/>
        </p:nvSpPr>
        <p:spPr>
          <a:xfrm>
            <a:off x="320040" y="4133088"/>
            <a:ext cx="54900" cy="6948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g3e1f5fefe7d_0_198"/>
          <p:cNvSpPr/>
          <p:nvPr/>
        </p:nvSpPr>
        <p:spPr>
          <a:xfrm>
            <a:off x="502920" y="419709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O que é opinião?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e1f5fefe7d_0_198"/>
          <p:cNvSpPr/>
          <p:nvPr/>
        </p:nvSpPr>
        <p:spPr>
          <a:xfrm>
            <a:off x="502920" y="4517136"/>
            <a:ext cx="7909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Onde o autor se posiciona sem necessariamente citar?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D00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e1f5fefe7d_0_22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e1f5fefe7d_0_223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CONSTRUÇÃO COLETIVA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g3e1f5fefe7d_0_223"/>
          <p:cNvSpPr/>
          <p:nvPr/>
        </p:nvSpPr>
        <p:spPr>
          <a:xfrm>
            <a:off x="365760" y="457200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é padrão em um bom referencial?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e1f5fefe7d_0_223"/>
          <p:cNvSpPr/>
          <p:nvPr/>
        </p:nvSpPr>
        <p:spPr>
          <a:xfrm>
            <a:off x="365760" y="1078992"/>
            <a:ext cx="1097400" cy="45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g3e1f5fefe7d_0_223"/>
          <p:cNvSpPr/>
          <p:nvPr/>
        </p:nvSpPr>
        <p:spPr>
          <a:xfrm>
            <a:off x="365760" y="120700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Cada grupo apresenta. Vamos construir juntos: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e1f5fefe7d_0_223"/>
          <p:cNvSpPr/>
          <p:nvPr/>
        </p:nvSpPr>
        <p:spPr>
          <a:xfrm>
            <a:off x="274320" y="1627632"/>
            <a:ext cx="2606100" cy="3840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e1f5fefe7d_0_223"/>
          <p:cNvSpPr/>
          <p:nvPr/>
        </p:nvSpPr>
        <p:spPr>
          <a:xfrm>
            <a:off x="274320" y="1627632"/>
            <a:ext cx="260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e1f5fefe7d_0_223"/>
          <p:cNvSpPr/>
          <p:nvPr/>
        </p:nvSpPr>
        <p:spPr>
          <a:xfrm>
            <a:off x="274320" y="2011680"/>
            <a:ext cx="2606100" cy="12345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g3e1f5fefe7d_0_223"/>
          <p:cNvSpPr/>
          <p:nvPr/>
        </p:nvSpPr>
        <p:spPr>
          <a:xfrm>
            <a:off x="3154680" y="1627632"/>
            <a:ext cx="2606100" cy="3840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e1f5fefe7d_0_223"/>
          <p:cNvSpPr/>
          <p:nvPr/>
        </p:nvSpPr>
        <p:spPr>
          <a:xfrm>
            <a:off x="3154680" y="1627632"/>
            <a:ext cx="260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e1f5fefe7d_0_223"/>
          <p:cNvSpPr/>
          <p:nvPr/>
        </p:nvSpPr>
        <p:spPr>
          <a:xfrm>
            <a:off x="3154680" y="2011680"/>
            <a:ext cx="2606100" cy="12345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e1f5fefe7d_0_223"/>
          <p:cNvSpPr/>
          <p:nvPr/>
        </p:nvSpPr>
        <p:spPr>
          <a:xfrm>
            <a:off x="6035040" y="1627632"/>
            <a:ext cx="2606100" cy="3840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e1f5fefe7d_0_223"/>
          <p:cNvSpPr/>
          <p:nvPr/>
        </p:nvSpPr>
        <p:spPr>
          <a:xfrm>
            <a:off x="6035040" y="1627632"/>
            <a:ext cx="260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Síntese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e1f5fefe7d_0_223"/>
          <p:cNvSpPr/>
          <p:nvPr/>
        </p:nvSpPr>
        <p:spPr>
          <a:xfrm>
            <a:off x="6035040" y="2011680"/>
            <a:ext cx="2606100" cy="12345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e1f5fefe7d_0_223"/>
          <p:cNvSpPr/>
          <p:nvPr/>
        </p:nvSpPr>
        <p:spPr>
          <a:xfrm>
            <a:off x="274320" y="3291840"/>
            <a:ext cx="2606100" cy="3840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g3e1f5fefe7d_0_223"/>
          <p:cNvSpPr/>
          <p:nvPr/>
        </p:nvSpPr>
        <p:spPr>
          <a:xfrm>
            <a:off x="274320" y="3291840"/>
            <a:ext cx="260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Posicionamento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e1f5fefe7d_0_223"/>
          <p:cNvSpPr/>
          <p:nvPr/>
        </p:nvSpPr>
        <p:spPr>
          <a:xfrm>
            <a:off x="274320" y="3675888"/>
            <a:ext cx="2606100" cy="12345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e1f5fefe7d_0_223"/>
          <p:cNvSpPr/>
          <p:nvPr/>
        </p:nvSpPr>
        <p:spPr>
          <a:xfrm>
            <a:off x="3154680" y="3291840"/>
            <a:ext cx="2606100" cy="3840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e1f5fefe7d_0_223"/>
          <p:cNvSpPr/>
          <p:nvPr/>
        </p:nvSpPr>
        <p:spPr>
          <a:xfrm>
            <a:off x="3154680" y="3291840"/>
            <a:ext cx="260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Erros Comuns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e1f5fefe7d_0_223"/>
          <p:cNvSpPr/>
          <p:nvPr/>
        </p:nvSpPr>
        <p:spPr>
          <a:xfrm>
            <a:off x="3154680" y="3675888"/>
            <a:ext cx="2606100" cy="12345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3e1f5fefe7d_0_223"/>
          <p:cNvSpPr/>
          <p:nvPr/>
        </p:nvSpPr>
        <p:spPr>
          <a:xfrm>
            <a:off x="6035040" y="3291840"/>
            <a:ext cx="2606100" cy="3840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e1f5fefe7d_0_223"/>
          <p:cNvSpPr/>
          <p:nvPr/>
        </p:nvSpPr>
        <p:spPr>
          <a:xfrm>
            <a:off x="6035040" y="3291840"/>
            <a:ext cx="260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faltou?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e1f5fefe7d_0_223"/>
          <p:cNvSpPr/>
          <p:nvPr/>
        </p:nvSpPr>
        <p:spPr>
          <a:xfrm>
            <a:off x="6035040" y="3675888"/>
            <a:ext cx="2606100" cy="12345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8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3 — TRABALHOS RELACIONADOS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8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 vs. Fundamentação Teórica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8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8"/>
          <p:cNvSpPr/>
          <p:nvPr/>
        </p:nvSpPr>
        <p:spPr>
          <a:xfrm>
            <a:off x="320040" y="1280160"/>
            <a:ext cx="4023360" cy="35204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8"/>
          <p:cNvSpPr/>
          <p:nvPr/>
        </p:nvSpPr>
        <p:spPr>
          <a:xfrm>
            <a:off x="320040" y="1280160"/>
            <a:ext cx="4023360" cy="38404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8"/>
          <p:cNvSpPr/>
          <p:nvPr/>
        </p:nvSpPr>
        <p:spPr>
          <a:xfrm>
            <a:off x="320040" y="128016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Trabalhos Relacionados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8"/>
          <p:cNvSpPr/>
          <p:nvPr/>
        </p:nvSpPr>
        <p:spPr>
          <a:xfrm>
            <a:off x="457200" y="1783080"/>
            <a:ext cx="37490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que outros pesquisadores já fizeram neste problema?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Compara sua proposta com as existentes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Mostra em que você é diferente ou melhor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Posiciona sua pesquisa no estado da arte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Fica geralmente no final da introdução ou em seção própria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8"/>
          <p:cNvSpPr/>
          <p:nvPr/>
        </p:nvSpPr>
        <p:spPr>
          <a:xfrm>
            <a:off x="4572000" y="1280160"/>
            <a:ext cx="4251960" cy="35204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8"/>
          <p:cNvSpPr/>
          <p:nvPr/>
        </p:nvSpPr>
        <p:spPr>
          <a:xfrm>
            <a:off x="4572000" y="1280160"/>
            <a:ext cx="4251960" cy="384048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8"/>
          <p:cNvSpPr/>
          <p:nvPr/>
        </p:nvSpPr>
        <p:spPr>
          <a:xfrm>
            <a:off x="4572000" y="1280160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Fundamentação Teórica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8"/>
          <p:cNvSpPr/>
          <p:nvPr/>
        </p:nvSpPr>
        <p:spPr>
          <a:xfrm>
            <a:off x="4709160" y="1783080"/>
            <a:ext cx="39776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Quais teorias e conceitos sustentam sua pesquisa?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Define os termos centrais do seu trabalho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Mostra de onde você parte epistemicamente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É a "base" — não a comparação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Fica antes da metodologia, como sustentação conceitual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9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3 — TRABALHOS RELACIONADOS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9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construir um bom TR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9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9"/>
          <p:cNvSpPr/>
          <p:nvPr/>
        </p:nvSpPr>
        <p:spPr>
          <a:xfrm>
            <a:off x="320040" y="1261872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4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6B45"/>
                </a:solidFill>
                <a:latin typeface="Arial"/>
                <a:ea typeface="Arial"/>
                <a:cs typeface="Arial"/>
                <a:sym typeface="Arial"/>
              </a:rPr>
              <a:t>✅  Fazer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9"/>
          <p:cNvSpPr/>
          <p:nvPr/>
        </p:nvSpPr>
        <p:spPr>
          <a:xfrm>
            <a:off x="320040" y="1572768"/>
            <a:ext cx="4023360" cy="53035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9"/>
          <p:cNvSpPr/>
          <p:nvPr/>
        </p:nvSpPr>
        <p:spPr>
          <a:xfrm>
            <a:off x="320040" y="1572768"/>
            <a:ext cx="54864" cy="530352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9"/>
          <p:cNvSpPr/>
          <p:nvPr/>
        </p:nvSpPr>
        <p:spPr>
          <a:xfrm>
            <a:off x="502920" y="157276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Cite criticamente — não faça lista de resumos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9"/>
          <p:cNvSpPr/>
          <p:nvPr/>
        </p:nvSpPr>
        <p:spPr>
          <a:xfrm>
            <a:off x="320040" y="2194560"/>
            <a:ext cx="4023360" cy="53035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9"/>
          <p:cNvSpPr/>
          <p:nvPr/>
        </p:nvSpPr>
        <p:spPr>
          <a:xfrm>
            <a:off x="320040" y="2194560"/>
            <a:ext cx="54864" cy="530352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9"/>
          <p:cNvSpPr/>
          <p:nvPr/>
        </p:nvSpPr>
        <p:spPr>
          <a:xfrm>
            <a:off x="502920" y="2194560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Mostre semelhanças E diferenças em relação ao seu trabalho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9"/>
          <p:cNvSpPr/>
          <p:nvPr/>
        </p:nvSpPr>
        <p:spPr>
          <a:xfrm>
            <a:off x="320040" y="2816352"/>
            <a:ext cx="4023360" cy="53035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9"/>
          <p:cNvSpPr/>
          <p:nvPr/>
        </p:nvSpPr>
        <p:spPr>
          <a:xfrm>
            <a:off x="320040" y="2816352"/>
            <a:ext cx="54864" cy="530352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9"/>
          <p:cNvSpPr/>
          <p:nvPr/>
        </p:nvSpPr>
        <p:spPr>
          <a:xfrm>
            <a:off x="502920" y="2816352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Articule claramente o gap que você está preenchendo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9"/>
          <p:cNvSpPr/>
          <p:nvPr/>
        </p:nvSpPr>
        <p:spPr>
          <a:xfrm>
            <a:off x="320040" y="3438144"/>
            <a:ext cx="4023360" cy="53035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9"/>
          <p:cNvSpPr/>
          <p:nvPr/>
        </p:nvSpPr>
        <p:spPr>
          <a:xfrm>
            <a:off x="320040" y="3438144"/>
            <a:ext cx="54864" cy="530352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9"/>
          <p:cNvSpPr/>
          <p:nvPr/>
        </p:nvSpPr>
        <p:spPr>
          <a:xfrm>
            <a:off x="502920" y="3438144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Agrupe por tema, não por ordem cronológica de leitura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9"/>
          <p:cNvSpPr/>
          <p:nvPr/>
        </p:nvSpPr>
        <p:spPr>
          <a:xfrm>
            <a:off x="320040" y="4059936"/>
            <a:ext cx="4023360" cy="53035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9"/>
          <p:cNvSpPr/>
          <p:nvPr/>
        </p:nvSpPr>
        <p:spPr>
          <a:xfrm>
            <a:off x="320040" y="4059936"/>
            <a:ext cx="54864" cy="530352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9"/>
          <p:cNvSpPr/>
          <p:nvPr/>
        </p:nvSpPr>
        <p:spPr>
          <a:xfrm>
            <a:off x="502920" y="4059936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Use a matriz de lacunas para organizar antes de escrever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9"/>
          <p:cNvSpPr/>
          <p:nvPr/>
        </p:nvSpPr>
        <p:spPr>
          <a:xfrm>
            <a:off x="4663440" y="1261872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❌  Evitar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9"/>
          <p:cNvSpPr/>
          <p:nvPr/>
        </p:nvSpPr>
        <p:spPr>
          <a:xfrm>
            <a:off x="4663440" y="1572768"/>
            <a:ext cx="4160520" cy="53035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9"/>
          <p:cNvSpPr/>
          <p:nvPr/>
        </p:nvSpPr>
        <p:spPr>
          <a:xfrm>
            <a:off x="4663440" y="1572768"/>
            <a:ext cx="54864" cy="530352"/>
          </a:xfrm>
          <a:prstGeom prst="rect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9"/>
          <p:cNvSpPr/>
          <p:nvPr/>
        </p:nvSpPr>
        <p:spPr>
          <a:xfrm>
            <a:off x="4846320" y="1572768"/>
            <a:ext cx="3886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"X fez A. Y fez B. Z fez C." — isso não é TR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9"/>
          <p:cNvSpPr/>
          <p:nvPr/>
        </p:nvSpPr>
        <p:spPr>
          <a:xfrm>
            <a:off x="4663440" y="2194560"/>
            <a:ext cx="4160520" cy="53035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9"/>
          <p:cNvSpPr/>
          <p:nvPr/>
        </p:nvSpPr>
        <p:spPr>
          <a:xfrm>
            <a:off x="4663440" y="2194560"/>
            <a:ext cx="54864" cy="530352"/>
          </a:xfrm>
          <a:prstGeom prst="rect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9"/>
          <p:cNvSpPr/>
          <p:nvPr/>
        </p:nvSpPr>
        <p:spPr>
          <a:xfrm>
            <a:off x="4846320" y="2194560"/>
            <a:ext cx="3886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Citar sem conectar ao seu problema de pesquisa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9"/>
          <p:cNvSpPr/>
          <p:nvPr/>
        </p:nvSpPr>
        <p:spPr>
          <a:xfrm>
            <a:off x="4663440" y="2816352"/>
            <a:ext cx="4160520" cy="53035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9"/>
          <p:cNvSpPr/>
          <p:nvPr/>
        </p:nvSpPr>
        <p:spPr>
          <a:xfrm>
            <a:off x="4663440" y="2816352"/>
            <a:ext cx="54864" cy="530352"/>
          </a:xfrm>
          <a:prstGeom prst="rect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9"/>
          <p:cNvSpPr/>
          <p:nvPr/>
        </p:nvSpPr>
        <p:spPr>
          <a:xfrm>
            <a:off x="4846320" y="2816352"/>
            <a:ext cx="3886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Incluir tudo que você leu, sem critério de relevância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9"/>
          <p:cNvSpPr/>
          <p:nvPr/>
        </p:nvSpPr>
        <p:spPr>
          <a:xfrm>
            <a:off x="4663440" y="3438144"/>
            <a:ext cx="4160520" cy="53035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9"/>
          <p:cNvSpPr/>
          <p:nvPr/>
        </p:nvSpPr>
        <p:spPr>
          <a:xfrm>
            <a:off x="4663440" y="3438144"/>
            <a:ext cx="54864" cy="530352"/>
          </a:xfrm>
          <a:prstGeom prst="rect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9"/>
          <p:cNvSpPr/>
          <p:nvPr/>
        </p:nvSpPr>
        <p:spPr>
          <a:xfrm>
            <a:off x="4846320" y="3438144"/>
            <a:ext cx="3886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Copiar o abstract do artigo como se fosse análise sua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9"/>
          <p:cNvSpPr/>
          <p:nvPr/>
        </p:nvSpPr>
        <p:spPr>
          <a:xfrm>
            <a:off x="4663440" y="4059936"/>
            <a:ext cx="4160520" cy="53035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9"/>
          <p:cNvSpPr/>
          <p:nvPr/>
        </p:nvSpPr>
        <p:spPr>
          <a:xfrm>
            <a:off x="4663440" y="4059936"/>
            <a:ext cx="54864" cy="530352"/>
          </a:xfrm>
          <a:prstGeom prst="rect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9"/>
          <p:cNvSpPr/>
          <p:nvPr/>
        </p:nvSpPr>
        <p:spPr>
          <a:xfrm>
            <a:off x="4846320" y="4059936"/>
            <a:ext cx="3886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Ignorar trabalhos que contradizem ou limitam o seu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0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0"/>
          <p:cNvSpPr/>
          <p:nvPr/>
        </p:nvSpPr>
        <p:spPr>
          <a:xfrm>
            <a:off x="457200" y="160020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Fundamentação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Teórica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0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3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8C33"/>
                </a:solidFill>
                <a:latin typeface="Arial"/>
                <a:ea typeface="Arial"/>
                <a:cs typeface="Arial"/>
                <a:sym typeface="Arial"/>
              </a:rPr>
              <a:t>+ Referência e Citação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0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Ativação • Construção • Consolidação • Demo com 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0"/>
          <p:cNvSpPr/>
          <p:nvPr/>
        </p:nvSpPr>
        <p:spPr>
          <a:xfrm>
            <a:off x="457200" y="3657600"/>
            <a:ext cx="137160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1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4 — FUNDAMENTAÇÃO TEÓRICA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1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é um Referencial Teórico?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1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1"/>
          <p:cNvSpPr/>
          <p:nvPr/>
        </p:nvSpPr>
        <p:spPr>
          <a:xfrm>
            <a:off x="320040" y="1280160"/>
            <a:ext cx="8503920" cy="96012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1"/>
          <p:cNvSpPr/>
          <p:nvPr/>
        </p:nvSpPr>
        <p:spPr>
          <a:xfrm>
            <a:off x="320040" y="1280160"/>
            <a:ext cx="54864" cy="9601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1"/>
          <p:cNvSpPr/>
          <p:nvPr/>
        </p:nvSpPr>
        <p:spPr>
          <a:xfrm>
            <a:off x="502920" y="1280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É o conjunto de teorias, conceitos e modelos que sustentam epistemicamente sua pesquisa. Não é uma revisão de literatura geral — é o mapa teórico do seu trabalho.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1"/>
          <p:cNvSpPr/>
          <p:nvPr/>
        </p:nvSpPr>
        <p:spPr>
          <a:xfrm>
            <a:off x="320040" y="2423160"/>
            <a:ext cx="4206240" cy="10972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1"/>
          <p:cNvSpPr/>
          <p:nvPr/>
        </p:nvSpPr>
        <p:spPr>
          <a:xfrm>
            <a:off x="320040" y="2423160"/>
            <a:ext cx="4206240" cy="3200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1"/>
          <p:cNvSpPr/>
          <p:nvPr/>
        </p:nvSpPr>
        <p:spPr>
          <a:xfrm>
            <a:off x="320040" y="24231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Pilares Teóricos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1"/>
          <p:cNvSpPr/>
          <p:nvPr/>
        </p:nvSpPr>
        <p:spPr>
          <a:xfrm>
            <a:off x="429768" y="2807208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As grandes teorias ou áreas do conhecimento em que sua pesquisa se apoia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1"/>
          <p:cNvSpPr/>
          <p:nvPr/>
        </p:nvSpPr>
        <p:spPr>
          <a:xfrm>
            <a:off x="4754880" y="2423160"/>
            <a:ext cx="4206240" cy="10972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1"/>
          <p:cNvSpPr/>
          <p:nvPr/>
        </p:nvSpPr>
        <p:spPr>
          <a:xfrm>
            <a:off x="4754880" y="2423160"/>
            <a:ext cx="4206240" cy="3200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1"/>
          <p:cNvSpPr/>
          <p:nvPr/>
        </p:nvSpPr>
        <p:spPr>
          <a:xfrm>
            <a:off x="4754880" y="24231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Conceitos Âncora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1"/>
          <p:cNvSpPr/>
          <p:nvPr/>
        </p:nvSpPr>
        <p:spPr>
          <a:xfrm>
            <a:off x="4864608" y="2807208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Os termos centrais que você usa e precisa definir com precisão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1"/>
          <p:cNvSpPr/>
          <p:nvPr/>
        </p:nvSpPr>
        <p:spPr>
          <a:xfrm>
            <a:off x="320040" y="3657600"/>
            <a:ext cx="4206240" cy="10972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1"/>
          <p:cNvSpPr/>
          <p:nvPr/>
        </p:nvSpPr>
        <p:spPr>
          <a:xfrm>
            <a:off x="320040" y="3657600"/>
            <a:ext cx="4206240" cy="3200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1"/>
          <p:cNvSpPr/>
          <p:nvPr/>
        </p:nvSpPr>
        <p:spPr>
          <a:xfrm>
            <a:off x="320040" y="365760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Relações entre Conceitos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1"/>
          <p:cNvSpPr/>
          <p:nvPr/>
        </p:nvSpPr>
        <p:spPr>
          <a:xfrm>
            <a:off x="429768" y="4041648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Como as teorias e conceitos se conectam no seu trabalho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1"/>
          <p:cNvSpPr/>
          <p:nvPr/>
        </p:nvSpPr>
        <p:spPr>
          <a:xfrm>
            <a:off x="4754880" y="3657600"/>
            <a:ext cx="4206240" cy="10972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1"/>
          <p:cNvSpPr/>
          <p:nvPr/>
        </p:nvSpPr>
        <p:spPr>
          <a:xfrm>
            <a:off x="4754880" y="3657600"/>
            <a:ext cx="4206240" cy="3200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1"/>
          <p:cNvSpPr/>
          <p:nvPr/>
        </p:nvSpPr>
        <p:spPr>
          <a:xfrm>
            <a:off x="4754880" y="365760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Posicionamento do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1"/>
          <p:cNvSpPr/>
          <p:nvPr/>
        </p:nvSpPr>
        <p:spPr>
          <a:xfrm>
            <a:off x="4864608" y="4041648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Onde você se situa dentro dos debates e correntes existentes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2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4 — FUNDAMENTAÇÃO TEÓRICA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2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Resenha vs. Síntese Crítica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2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2"/>
          <p:cNvSpPr/>
          <p:nvPr/>
        </p:nvSpPr>
        <p:spPr>
          <a:xfrm>
            <a:off x="320040" y="1280160"/>
            <a:ext cx="4023360" cy="35661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2"/>
          <p:cNvSpPr/>
          <p:nvPr/>
        </p:nvSpPr>
        <p:spPr>
          <a:xfrm>
            <a:off x="320040" y="1280160"/>
            <a:ext cx="4023360" cy="384048"/>
          </a:xfrm>
          <a:prstGeom prst="rect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2"/>
          <p:cNvSpPr/>
          <p:nvPr/>
        </p:nvSpPr>
        <p:spPr>
          <a:xfrm>
            <a:off x="320040" y="128016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❌  Resenha (evite)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2"/>
          <p:cNvSpPr/>
          <p:nvPr/>
        </p:nvSpPr>
        <p:spPr>
          <a:xfrm>
            <a:off x="457200" y="1783080"/>
            <a:ext cx="37490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Resume o que cada autor disse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"Segundo X (2020), ..."  "Já Y (2021) afirma..."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Sem voz do pesquisador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Não conecta ao seu problema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Parece uma lista de fichamentos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2"/>
          <p:cNvSpPr/>
          <p:nvPr/>
        </p:nvSpPr>
        <p:spPr>
          <a:xfrm>
            <a:off x="4572000" y="1280160"/>
            <a:ext cx="4251960" cy="35661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2"/>
          <p:cNvSpPr/>
          <p:nvPr/>
        </p:nvSpPr>
        <p:spPr>
          <a:xfrm>
            <a:off x="4572000" y="1280160"/>
            <a:ext cx="4251960" cy="384048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2"/>
          <p:cNvSpPr/>
          <p:nvPr/>
        </p:nvSpPr>
        <p:spPr>
          <a:xfrm>
            <a:off x="4572000" y="1280160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  Síntese Crítica (busque)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2"/>
          <p:cNvSpPr/>
          <p:nvPr/>
        </p:nvSpPr>
        <p:spPr>
          <a:xfrm>
            <a:off x="4709160" y="1783080"/>
            <a:ext cx="39776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Você conduz o argumento — os autores suportam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Mostra convergências e tensões entre autores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Conecta explicitamente ao seu problema de pesquisa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Distingue o que o autor diz do que as evidências mostram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leitor entende por que aquele conceito importa para você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3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4 — REFERÊNCIA E CITAÇÃO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3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Referência e Citação na Prática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3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3"/>
          <p:cNvSpPr/>
          <p:nvPr/>
        </p:nvSpPr>
        <p:spPr>
          <a:xfrm>
            <a:off x="320040" y="132588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3"/>
          <p:cNvSpPr/>
          <p:nvPr/>
        </p:nvSpPr>
        <p:spPr>
          <a:xfrm>
            <a:off x="320040" y="132588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3"/>
          <p:cNvSpPr/>
          <p:nvPr/>
        </p:nvSpPr>
        <p:spPr>
          <a:xfrm>
            <a:off x="484632" y="139903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ABNT vs. APA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3"/>
          <p:cNvSpPr/>
          <p:nvPr/>
        </p:nvSpPr>
        <p:spPr>
          <a:xfrm>
            <a:off x="484632" y="172821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ABNT NBR 6023 (referências) e NBR 10520 (citações) — padrão em programas brasileiros. APA comum em ES internacional.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3"/>
          <p:cNvSpPr/>
          <p:nvPr/>
        </p:nvSpPr>
        <p:spPr>
          <a:xfrm>
            <a:off x="4754880" y="132588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3"/>
          <p:cNvSpPr/>
          <p:nvPr/>
        </p:nvSpPr>
        <p:spPr>
          <a:xfrm>
            <a:off x="4754880" y="132588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3"/>
          <p:cNvSpPr/>
          <p:nvPr/>
        </p:nvSpPr>
        <p:spPr>
          <a:xfrm>
            <a:off x="4919472" y="139903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Citação direta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3"/>
          <p:cNvSpPr/>
          <p:nvPr/>
        </p:nvSpPr>
        <p:spPr>
          <a:xfrm>
            <a:off x="4919472" y="172821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Transcrição literal. Até 3 linhas: entre aspas no texto. Mais de 3 linhas: recuada, sem aspas, fonte menor.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3"/>
          <p:cNvSpPr/>
          <p:nvPr/>
        </p:nvSpPr>
        <p:spPr>
          <a:xfrm>
            <a:off x="320040" y="251460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3"/>
          <p:cNvSpPr/>
          <p:nvPr/>
        </p:nvSpPr>
        <p:spPr>
          <a:xfrm>
            <a:off x="320040" y="251460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3"/>
          <p:cNvSpPr/>
          <p:nvPr/>
        </p:nvSpPr>
        <p:spPr>
          <a:xfrm>
            <a:off x="484632" y="258775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Citação indireta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3"/>
          <p:cNvSpPr/>
          <p:nvPr/>
        </p:nvSpPr>
        <p:spPr>
          <a:xfrm>
            <a:off x="484632" y="291693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Paráfrase — você reescreve a ideia com suas palavras. Citar o autor mesmo assim. É o tipo mais usado em referenciais.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3"/>
          <p:cNvSpPr/>
          <p:nvPr/>
        </p:nvSpPr>
        <p:spPr>
          <a:xfrm>
            <a:off x="4754880" y="251460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3"/>
          <p:cNvSpPr/>
          <p:nvPr/>
        </p:nvSpPr>
        <p:spPr>
          <a:xfrm>
            <a:off x="4754880" y="251460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3"/>
          <p:cNvSpPr/>
          <p:nvPr/>
        </p:nvSpPr>
        <p:spPr>
          <a:xfrm>
            <a:off x="4919472" y="258775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Ferramentas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3"/>
          <p:cNvSpPr/>
          <p:nvPr/>
        </p:nvSpPr>
        <p:spPr>
          <a:xfrm>
            <a:off x="4919472" y="291693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Mendeley e Zotero: gerenciam suas referências, geram ABNT/APA automaticamente, evitam erros manuais.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3"/>
          <p:cNvSpPr/>
          <p:nvPr/>
        </p:nvSpPr>
        <p:spPr>
          <a:xfrm>
            <a:off x="320040" y="370332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3"/>
          <p:cNvSpPr/>
          <p:nvPr/>
        </p:nvSpPr>
        <p:spPr>
          <a:xfrm>
            <a:off x="320040" y="370332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3"/>
          <p:cNvSpPr/>
          <p:nvPr/>
        </p:nvSpPr>
        <p:spPr>
          <a:xfrm>
            <a:off x="484632" y="37764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Erros de banca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3"/>
          <p:cNvSpPr/>
          <p:nvPr/>
        </p:nvSpPr>
        <p:spPr>
          <a:xfrm>
            <a:off x="484632" y="410565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Referência sem ano. Autor no texto diferente da lista. Página faltando em citação direta. DOI/URL quebrado.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3"/>
          <p:cNvSpPr/>
          <p:nvPr/>
        </p:nvSpPr>
        <p:spPr>
          <a:xfrm>
            <a:off x="4754880" y="370332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3"/>
          <p:cNvSpPr/>
          <p:nvPr/>
        </p:nvSpPr>
        <p:spPr>
          <a:xfrm>
            <a:off x="4754880" y="370332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3"/>
          <p:cNvSpPr/>
          <p:nvPr/>
        </p:nvSpPr>
        <p:spPr>
          <a:xfrm>
            <a:off x="4919472" y="37764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Plágio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3"/>
          <p:cNvSpPr/>
          <p:nvPr/>
        </p:nvSpPr>
        <p:spPr>
          <a:xfrm>
            <a:off x="4919472" y="410565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Copiar sem citar é plágio. Parafrasear demais sem citar também. Autoplagio: reusar seu próprio texto publicado sem citação.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4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4 — DEMO AO VIVO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4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Construindo um Referencial com 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4"/>
          <p:cNvSpPr/>
          <p:nvPr/>
        </p:nvSpPr>
        <p:spPr>
          <a:xfrm>
            <a:off x="1928960" y="94179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Demonstração ao vivo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4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4"/>
          <p:cNvSpPr/>
          <p:nvPr/>
        </p:nvSpPr>
        <p:spPr>
          <a:xfrm>
            <a:off x="365760" y="12984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O que vamos fazer: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4"/>
          <p:cNvSpPr/>
          <p:nvPr/>
        </p:nvSpPr>
        <p:spPr>
          <a:xfrm>
            <a:off x="320040" y="1664208"/>
            <a:ext cx="8503920" cy="5486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4"/>
          <p:cNvSpPr/>
          <p:nvPr/>
        </p:nvSpPr>
        <p:spPr>
          <a:xfrm>
            <a:off x="320040" y="1664208"/>
            <a:ext cx="1920240" cy="5486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4"/>
          <p:cNvSpPr/>
          <p:nvPr/>
        </p:nvSpPr>
        <p:spPr>
          <a:xfrm>
            <a:off x="320040" y="166420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Partir do problema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4"/>
          <p:cNvSpPr/>
          <p:nvPr/>
        </p:nvSpPr>
        <p:spPr>
          <a:xfrm>
            <a:off x="2331720" y="1664208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Definir o problema de pesquisa e os conceitos centrais antes de acionar a 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4"/>
          <p:cNvSpPr/>
          <p:nvPr/>
        </p:nvSpPr>
        <p:spPr>
          <a:xfrm>
            <a:off x="320040" y="2304288"/>
            <a:ext cx="8503920" cy="5486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4"/>
          <p:cNvSpPr/>
          <p:nvPr/>
        </p:nvSpPr>
        <p:spPr>
          <a:xfrm>
            <a:off x="320040" y="2304288"/>
            <a:ext cx="1920240" cy="5486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4"/>
          <p:cNvSpPr/>
          <p:nvPr/>
        </p:nvSpPr>
        <p:spPr>
          <a:xfrm>
            <a:off x="320040" y="230428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Usar a IA como assistente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4"/>
          <p:cNvSpPr/>
          <p:nvPr/>
        </p:nvSpPr>
        <p:spPr>
          <a:xfrm>
            <a:off x="2331720" y="2304288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Pedir sínteses, identificar autores relevantes, explorar conexões entre conceitos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4"/>
          <p:cNvSpPr/>
          <p:nvPr/>
        </p:nvSpPr>
        <p:spPr>
          <a:xfrm>
            <a:off x="320040" y="2944368"/>
            <a:ext cx="8503920" cy="5486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4"/>
          <p:cNvSpPr/>
          <p:nvPr/>
        </p:nvSpPr>
        <p:spPr>
          <a:xfrm>
            <a:off x="320040" y="2944368"/>
            <a:ext cx="1920240" cy="5486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4"/>
          <p:cNvSpPr/>
          <p:nvPr/>
        </p:nvSpPr>
        <p:spPr>
          <a:xfrm>
            <a:off x="320040" y="294436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Manter a voz do pesquisador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4"/>
          <p:cNvSpPr/>
          <p:nvPr/>
        </p:nvSpPr>
        <p:spPr>
          <a:xfrm>
            <a:off x="2331720" y="2944368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 IA sugere — você decide, critica e conecta ao seu trabalho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4"/>
          <p:cNvSpPr/>
          <p:nvPr/>
        </p:nvSpPr>
        <p:spPr>
          <a:xfrm>
            <a:off x="320040" y="3584448"/>
            <a:ext cx="8503920" cy="5486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4"/>
          <p:cNvSpPr/>
          <p:nvPr/>
        </p:nvSpPr>
        <p:spPr>
          <a:xfrm>
            <a:off x="320040" y="3584448"/>
            <a:ext cx="1920240" cy="5486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4"/>
          <p:cNvSpPr/>
          <p:nvPr/>
        </p:nvSpPr>
        <p:spPr>
          <a:xfrm>
            <a:off x="320040" y="358444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Verificar as fontes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4"/>
          <p:cNvSpPr/>
          <p:nvPr/>
        </p:nvSpPr>
        <p:spPr>
          <a:xfrm>
            <a:off x="2331720" y="3584448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 IA alucina referências. Toda fonte gerada pela IA precisa ser verificada manualmente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4"/>
          <p:cNvSpPr/>
          <p:nvPr/>
        </p:nvSpPr>
        <p:spPr>
          <a:xfrm>
            <a:off x="320040" y="4224528"/>
            <a:ext cx="8503920" cy="5486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4"/>
          <p:cNvSpPr/>
          <p:nvPr/>
        </p:nvSpPr>
        <p:spPr>
          <a:xfrm>
            <a:off x="320040" y="4224528"/>
            <a:ext cx="1920240" cy="5486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4"/>
          <p:cNvSpPr/>
          <p:nvPr/>
        </p:nvSpPr>
        <p:spPr>
          <a:xfrm>
            <a:off x="320040" y="422452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Armadilhas comuns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4"/>
          <p:cNvSpPr/>
          <p:nvPr/>
        </p:nvSpPr>
        <p:spPr>
          <a:xfrm>
            <a:off x="2331720" y="4224528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Aceitar sínteses sem crítica. Usar o texto gerado diretamente. Perder o fio condutor do argumento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0D0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5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5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Apresentação de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Trabalho Científico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5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Academia  ·  Indústria  ·  Banca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5"/>
          <p:cNvSpPr/>
          <p:nvPr/>
        </p:nvSpPr>
        <p:spPr>
          <a:xfrm>
            <a:off x="457200" y="3429000"/>
            <a:ext cx="137160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5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8C33"/>
                </a:solidFill>
                <a:latin typeface="Arial"/>
                <a:ea typeface="Arial"/>
                <a:cs typeface="Arial"/>
                <a:sym typeface="Arial"/>
              </a:rPr>
              <a:t>Academia  ·  Indústria  ·  Banca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6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5 — APRESENTAÇÃO CIENTÍFICA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6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Academia vs. Indústria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6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6"/>
          <p:cNvSpPr/>
          <p:nvPr/>
        </p:nvSpPr>
        <p:spPr>
          <a:xfrm>
            <a:off x="320040" y="1280160"/>
            <a:ext cx="4023360" cy="35661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6"/>
          <p:cNvSpPr/>
          <p:nvPr/>
        </p:nvSpPr>
        <p:spPr>
          <a:xfrm>
            <a:off x="320040" y="1280160"/>
            <a:ext cx="4023360" cy="38404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6"/>
          <p:cNvSpPr/>
          <p:nvPr/>
        </p:nvSpPr>
        <p:spPr>
          <a:xfrm>
            <a:off x="320040" y="128016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🎓  Academia / Banca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6"/>
          <p:cNvSpPr/>
          <p:nvPr/>
        </p:nvSpPr>
        <p:spPr>
          <a:xfrm>
            <a:off x="457200" y="1783080"/>
            <a:ext cx="37490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Audiência: examinadores, pares, orientador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Quer ver: rigor metodológico, revisão de literatura, limitações reconhecidas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Tom: formal, argumentativo, defensivo com humildade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Estrutura: problema → revisão → método → resultados → discussão → conclusão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Avalia: você sabe o que fez e por quê?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6"/>
          <p:cNvSpPr/>
          <p:nvPr/>
        </p:nvSpPr>
        <p:spPr>
          <a:xfrm>
            <a:off x="4572000" y="1280160"/>
            <a:ext cx="4251960" cy="35661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6"/>
          <p:cNvSpPr/>
          <p:nvPr/>
        </p:nvSpPr>
        <p:spPr>
          <a:xfrm>
            <a:off x="4572000" y="1280160"/>
            <a:ext cx="4251960" cy="384048"/>
          </a:xfrm>
          <a:prstGeom prst="rect">
            <a:avLst/>
          </a:prstGeom>
          <a:solidFill>
            <a:srgbClr val="1A4A8A"/>
          </a:solidFill>
          <a:ln cap="flat" cmpd="sng" w="12700">
            <a:solidFill>
              <a:srgbClr val="1A4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6"/>
          <p:cNvSpPr/>
          <p:nvPr/>
        </p:nvSpPr>
        <p:spPr>
          <a:xfrm>
            <a:off x="4572000" y="1280160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🏢  Indústria / Stakeholders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6"/>
          <p:cNvSpPr/>
          <p:nvPr/>
        </p:nvSpPr>
        <p:spPr>
          <a:xfrm>
            <a:off x="4709160" y="1783080"/>
            <a:ext cx="39776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Audiência: gestores, clientes, times de produto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Quer ver: problema de negócio → evidência → decisão recomendada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Tom: objetivo, orientado a ação, sem jargão excessivo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Estrutura: contexto → insight → impacto → próximos passos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Avalia: isso me ajuda a tomar uma decisão melhor?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7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5 — APRESENTAÇÃO CIENTÍFICA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7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Anatomia de uma Boa Defesa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7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7"/>
          <p:cNvSpPr/>
          <p:nvPr/>
        </p:nvSpPr>
        <p:spPr>
          <a:xfrm>
            <a:off x="320040" y="1325880"/>
            <a:ext cx="8503920" cy="52120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7"/>
          <p:cNvSpPr/>
          <p:nvPr/>
        </p:nvSpPr>
        <p:spPr>
          <a:xfrm>
            <a:off x="320040" y="1325880"/>
            <a:ext cx="1645920" cy="52120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27"/>
          <p:cNvSpPr/>
          <p:nvPr/>
        </p:nvSpPr>
        <p:spPr>
          <a:xfrm>
            <a:off x="320040" y="1325880"/>
            <a:ext cx="16459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Abertura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7"/>
          <p:cNvSpPr/>
          <p:nvPr/>
        </p:nvSpPr>
        <p:spPr>
          <a:xfrm>
            <a:off x="2084832" y="1325880"/>
            <a:ext cx="66294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Contextualize o problema. Por que isso importa? Para quem?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7"/>
          <p:cNvSpPr/>
          <p:nvPr/>
        </p:nvSpPr>
        <p:spPr>
          <a:xfrm>
            <a:off x="320040" y="1938528"/>
            <a:ext cx="8503920" cy="52120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7"/>
          <p:cNvSpPr/>
          <p:nvPr/>
        </p:nvSpPr>
        <p:spPr>
          <a:xfrm>
            <a:off x="320040" y="1938528"/>
            <a:ext cx="1645920" cy="52120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7"/>
          <p:cNvSpPr/>
          <p:nvPr/>
        </p:nvSpPr>
        <p:spPr>
          <a:xfrm>
            <a:off x="320040" y="1938528"/>
            <a:ext cx="16459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Problema de Pesquisa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7"/>
          <p:cNvSpPr/>
          <p:nvPr/>
        </p:nvSpPr>
        <p:spPr>
          <a:xfrm>
            <a:off x="2084832" y="1938528"/>
            <a:ext cx="66294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Enuncie com precisão. Qual a pergunta central? Qual o gap?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7"/>
          <p:cNvSpPr/>
          <p:nvPr/>
        </p:nvSpPr>
        <p:spPr>
          <a:xfrm>
            <a:off x="320040" y="2551176"/>
            <a:ext cx="8503920" cy="52120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7"/>
          <p:cNvSpPr/>
          <p:nvPr/>
        </p:nvSpPr>
        <p:spPr>
          <a:xfrm>
            <a:off x="320040" y="2551176"/>
            <a:ext cx="1645920" cy="52120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7"/>
          <p:cNvSpPr/>
          <p:nvPr/>
        </p:nvSpPr>
        <p:spPr>
          <a:xfrm>
            <a:off x="320040" y="2551176"/>
            <a:ext cx="16459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7"/>
          <p:cNvSpPr/>
          <p:nvPr/>
        </p:nvSpPr>
        <p:spPr>
          <a:xfrm>
            <a:off x="2084832" y="2551176"/>
            <a:ext cx="66294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Seja transparente. O que você fez, por que esse método, quais as limitações?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7"/>
          <p:cNvSpPr/>
          <p:nvPr/>
        </p:nvSpPr>
        <p:spPr>
          <a:xfrm>
            <a:off x="320040" y="3163824"/>
            <a:ext cx="8503920" cy="52120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7"/>
          <p:cNvSpPr/>
          <p:nvPr/>
        </p:nvSpPr>
        <p:spPr>
          <a:xfrm>
            <a:off x="320040" y="3163824"/>
            <a:ext cx="1645920" cy="52120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7"/>
          <p:cNvSpPr/>
          <p:nvPr/>
        </p:nvSpPr>
        <p:spPr>
          <a:xfrm>
            <a:off x="320040" y="3163824"/>
            <a:ext cx="16459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7"/>
          <p:cNvSpPr/>
          <p:nvPr/>
        </p:nvSpPr>
        <p:spPr>
          <a:xfrm>
            <a:off x="2084832" y="3163824"/>
            <a:ext cx="66294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Mostre os dados — não interprete ainda. Deixe a banca ver.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7"/>
          <p:cNvSpPr/>
          <p:nvPr/>
        </p:nvSpPr>
        <p:spPr>
          <a:xfrm>
            <a:off x="320040" y="3776472"/>
            <a:ext cx="8503920" cy="52120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7"/>
          <p:cNvSpPr/>
          <p:nvPr/>
        </p:nvSpPr>
        <p:spPr>
          <a:xfrm>
            <a:off x="320040" y="3776472"/>
            <a:ext cx="1645920" cy="52120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27"/>
          <p:cNvSpPr/>
          <p:nvPr/>
        </p:nvSpPr>
        <p:spPr>
          <a:xfrm>
            <a:off x="320040" y="3776472"/>
            <a:ext cx="16459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Discussão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7"/>
          <p:cNvSpPr/>
          <p:nvPr/>
        </p:nvSpPr>
        <p:spPr>
          <a:xfrm>
            <a:off x="2084832" y="3776472"/>
            <a:ext cx="66294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Aqui você interpreta. Conecte resultados à literatura. Reconheça limitações.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7"/>
          <p:cNvSpPr/>
          <p:nvPr/>
        </p:nvSpPr>
        <p:spPr>
          <a:xfrm>
            <a:off x="320040" y="4389120"/>
            <a:ext cx="8503920" cy="52120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27"/>
          <p:cNvSpPr/>
          <p:nvPr/>
        </p:nvSpPr>
        <p:spPr>
          <a:xfrm>
            <a:off x="320040" y="4389120"/>
            <a:ext cx="1645920" cy="52120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7"/>
          <p:cNvSpPr/>
          <p:nvPr/>
        </p:nvSpPr>
        <p:spPr>
          <a:xfrm>
            <a:off x="320040" y="4389120"/>
            <a:ext cx="16459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Contribuição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7"/>
          <p:cNvSpPr/>
          <p:nvPr/>
        </p:nvSpPr>
        <p:spPr>
          <a:xfrm>
            <a:off x="2084832" y="4389120"/>
            <a:ext cx="66294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que você adiciona ao conhecimento? Seja específico e honesto.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2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28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5 — APRESENTAÇÃO CIENTÍFICA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8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a Banca Observa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8"/>
          <p:cNvSpPr/>
          <p:nvPr/>
        </p:nvSpPr>
        <p:spPr>
          <a:xfrm>
            <a:off x="365760" y="1005840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8"/>
          <p:cNvSpPr/>
          <p:nvPr/>
        </p:nvSpPr>
        <p:spPr>
          <a:xfrm>
            <a:off x="320040" y="132588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28"/>
          <p:cNvSpPr/>
          <p:nvPr/>
        </p:nvSpPr>
        <p:spPr>
          <a:xfrm>
            <a:off x="320040" y="132588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28"/>
          <p:cNvSpPr/>
          <p:nvPr/>
        </p:nvSpPr>
        <p:spPr>
          <a:xfrm>
            <a:off x="484632" y="139903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Domínio do trabalho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8"/>
          <p:cNvSpPr/>
          <p:nvPr/>
        </p:nvSpPr>
        <p:spPr>
          <a:xfrm>
            <a:off x="484632" y="172821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Você sabe o que fez ou está lendo os slides? Conheça cada decisão metodológica.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8"/>
          <p:cNvSpPr/>
          <p:nvPr/>
        </p:nvSpPr>
        <p:spPr>
          <a:xfrm>
            <a:off x="4754880" y="132588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8"/>
          <p:cNvSpPr/>
          <p:nvPr/>
        </p:nvSpPr>
        <p:spPr>
          <a:xfrm>
            <a:off x="4754880" y="132588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28"/>
          <p:cNvSpPr/>
          <p:nvPr/>
        </p:nvSpPr>
        <p:spPr>
          <a:xfrm>
            <a:off x="4919472" y="139903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Limitações assumidas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8"/>
          <p:cNvSpPr/>
          <p:nvPr/>
        </p:nvSpPr>
        <p:spPr>
          <a:xfrm>
            <a:off x="4919472" y="172821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Reconhecer limitações é sinal de maturidade científica — não de fraqueza.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8"/>
          <p:cNvSpPr/>
          <p:nvPr/>
        </p:nvSpPr>
        <p:spPr>
          <a:xfrm>
            <a:off x="320040" y="251460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8"/>
          <p:cNvSpPr/>
          <p:nvPr/>
        </p:nvSpPr>
        <p:spPr>
          <a:xfrm>
            <a:off x="320040" y="251460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8"/>
          <p:cNvSpPr/>
          <p:nvPr/>
        </p:nvSpPr>
        <p:spPr>
          <a:xfrm>
            <a:off x="484632" y="258775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Relação literatura–resultados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8"/>
          <p:cNvSpPr/>
          <p:nvPr/>
        </p:nvSpPr>
        <p:spPr>
          <a:xfrm>
            <a:off x="484632" y="291693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Os resultados conversam com a teoria? Você mostra onde confirma, diverge ou amplia?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8"/>
          <p:cNvSpPr/>
          <p:nvPr/>
        </p:nvSpPr>
        <p:spPr>
          <a:xfrm>
            <a:off x="4754880" y="251460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8"/>
          <p:cNvSpPr/>
          <p:nvPr/>
        </p:nvSpPr>
        <p:spPr>
          <a:xfrm>
            <a:off x="4754880" y="251460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28"/>
          <p:cNvSpPr/>
          <p:nvPr/>
        </p:nvSpPr>
        <p:spPr>
          <a:xfrm>
            <a:off x="4919472" y="258775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Clareza do problema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8"/>
          <p:cNvSpPr/>
          <p:nvPr/>
        </p:nvSpPr>
        <p:spPr>
          <a:xfrm>
            <a:off x="4919472" y="291693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Se o problema não está claro nos primeiros 2 minutos, a banca fica ansiosa o resto do tempo.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8"/>
          <p:cNvSpPr/>
          <p:nvPr/>
        </p:nvSpPr>
        <p:spPr>
          <a:xfrm>
            <a:off x="320040" y="370332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8"/>
          <p:cNvSpPr/>
          <p:nvPr/>
        </p:nvSpPr>
        <p:spPr>
          <a:xfrm>
            <a:off x="320040" y="370332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28"/>
          <p:cNvSpPr/>
          <p:nvPr/>
        </p:nvSpPr>
        <p:spPr>
          <a:xfrm>
            <a:off x="484632" y="37764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Gerenciamento do tempo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8"/>
          <p:cNvSpPr/>
          <p:nvPr/>
        </p:nvSpPr>
        <p:spPr>
          <a:xfrm>
            <a:off x="484632" y="410565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Apresentações que estouram o tempo irritam bancas. Treine com cronômetro.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8"/>
          <p:cNvSpPr/>
          <p:nvPr/>
        </p:nvSpPr>
        <p:spPr>
          <a:xfrm>
            <a:off x="4754880" y="3703320"/>
            <a:ext cx="4206240" cy="107899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28"/>
          <p:cNvSpPr/>
          <p:nvPr/>
        </p:nvSpPr>
        <p:spPr>
          <a:xfrm>
            <a:off x="4754880" y="3703320"/>
            <a:ext cx="54864" cy="107899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8"/>
          <p:cNvSpPr/>
          <p:nvPr/>
        </p:nvSpPr>
        <p:spPr>
          <a:xfrm>
            <a:off x="4919472" y="37764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Respostas às perguntas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8"/>
          <p:cNvSpPr/>
          <p:nvPr/>
        </p:nvSpPr>
        <p:spPr>
          <a:xfrm>
            <a:off x="4919472" y="410565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"Não sei, mas posso investigar" é melhor que inventar. Ouça a pergunta completa antes de responder.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9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Até o próximo FDS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9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O que levamos deste fim de semana: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9"/>
          <p:cNvSpPr/>
          <p:nvPr/>
        </p:nvSpPr>
        <p:spPr>
          <a:xfrm>
            <a:off x="457200" y="2029968"/>
            <a:ext cx="256032" cy="25603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9"/>
          <p:cNvSpPr/>
          <p:nvPr/>
        </p:nvSpPr>
        <p:spPr>
          <a:xfrm>
            <a:off x="457200" y="202996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9"/>
          <p:cNvSpPr/>
          <p:nvPr/>
        </p:nvSpPr>
        <p:spPr>
          <a:xfrm>
            <a:off x="841248" y="1874520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Pesquisa envolve seres humanos — isso tem implicações éticas reais e reguladas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9"/>
          <p:cNvSpPr/>
          <p:nvPr/>
        </p:nvSpPr>
        <p:spPr>
          <a:xfrm>
            <a:off x="457200" y="2606040"/>
            <a:ext cx="256032" cy="25603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9"/>
          <p:cNvSpPr/>
          <p:nvPr/>
        </p:nvSpPr>
        <p:spPr>
          <a:xfrm>
            <a:off x="457200" y="260604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9"/>
          <p:cNvSpPr/>
          <p:nvPr/>
        </p:nvSpPr>
        <p:spPr>
          <a:xfrm>
            <a:off x="841248" y="2450592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Ler artigos é uma habilidade treinável — método &gt; intuição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9"/>
          <p:cNvSpPr/>
          <p:nvPr/>
        </p:nvSpPr>
        <p:spPr>
          <a:xfrm>
            <a:off x="457200" y="3182112"/>
            <a:ext cx="256032" cy="25603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9"/>
          <p:cNvSpPr/>
          <p:nvPr/>
        </p:nvSpPr>
        <p:spPr>
          <a:xfrm>
            <a:off x="457200" y="318211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9"/>
          <p:cNvSpPr/>
          <p:nvPr/>
        </p:nvSpPr>
        <p:spPr>
          <a:xfrm>
            <a:off x="841248" y="3026664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Trabalhos relacionados posicionam, não resumem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9"/>
          <p:cNvSpPr/>
          <p:nvPr/>
        </p:nvSpPr>
        <p:spPr>
          <a:xfrm>
            <a:off x="457200" y="3758184"/>
            <a:ext cx="256032" cy="25603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9"/>
          <p:cNvSpPr/>
          <p:nvPr/>
        </p:nvSpPr>
        <p:spPr>
          <a:xfrm>
            <a:off x="457200" y="37581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9"/>
          <p:cNvSpPr/>
          <p:nvPr/>
        </p:nvSpPr>
        <p:spPr>
          <a:xfrm>
            <a:off x="841248" y="3602736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Referencial teórico sustenta — não decora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9"/>
          <p:cNvSpPr/>
          <p:nvPr/>
        </p:nvSpPr>
        <p:spPr>
          <a:xfrm>
            <a:off x="457200" y="4334256"/>
            <a:ext cx="256032" cy="25603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9"/>
          <p:cNvSpPr/>
          <p:nvPr/>
        </p:nvSpPr>
        <p:spPr>
          <a:xfrm>
            <a:off x="457200" y="43342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9"/>
          <p:cNvSpPr/>
          <p:nvPr/>
        </p:nvSpPr>
        <p:spPr>
          <a:xfrm>
            <a:off x="841248" y="417880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Apresentar pesquisa é adaptar a mensagem à audiência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CESAR School  ·  Mestrado em Ciência da Computação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A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2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LEITURA ATIVA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— Como Ler Artigos Científicos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2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2"/>
          <p:cNvSpPr/>
          <p:nvPr/>
        </p:nvSpPr>
        <p:spPr>
          <a:xfrm>
            <a:off x="320040" y="1234440"/>
            <a:ext cx="8503920" cy="5943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2"/>
          <p:cNvSpPr/>
          <p:nvPr/>
        </p:nvSpPr>
        <p:spPr>
          <a:xfrm>
            <a:off x="320040" y="1234440"/>
            <a:ext cx="54864" cy="59436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32"/>
          <p:cNvSpPr/>
          <p:nvPr/>
        </p:nvSpPr>
        <p:spPr>
          <a:xfrm>
            <a:off x="502920" y="12618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França, A.C.C. (2012)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2"/>
          <p:cNvSpPr/>
          <p:nvPr/>
        </p:nvSpPr>
        <p:spPr>
          <a:xfrm>
            <a:off x="502920" y="1490472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Como Ler Artigos Científicos? Uma abordagem para leitores em Engenharia de Software — SBC Horizontes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2"/>
          <p:cNvSpPr/>
          <p:nvPr/>
        </p:nvSpPr>
        <p:spPr>
          <a:xfrm>
            <a:off x="365760" y="19933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Leia o artigo e responda: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2"/>
          <p:cNvSpPr/>
          <p:nvPr/>
        </p:nvSpPr>
        <p:spPr>
          <a:xfrm>
            <a:off x="320040" y="2395728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2"/>
          <p:cNvSpPr/>
          <p:nvPr/>
        </p:nvSpPr>
        <p:spPr>
          <a:xfrm>
            <a:off x="320040" y="2395728"/>
            <a:ext cx="128016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2"/>
          <p:cNvSpPr/>
          <p:nvPr/>
        </p:nvSpPr>
        <p:spPr>
          <a:xfrm>
            <a:off x="320040" y="2395728"/>
            <a:ext cx="1280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2"/>
          <p:cNvSpPr/>
          <p:nvPr/>
        </p:nvSpPr>
        <p:spPr>
          <a:xfrm>
            <a:off x="1719072" y="2395728"/>
            <a:ext cx="6995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problema o autor está resolvendo?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2"/>
          <p:cNvSpPr/>
          <p:nvPr/>
        </p:nvSpPr>
        <p:spPr>
          <a:xfrm>
            <a:off x="320040" y="3063240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2"/>
          <p:cNvSpPr/>
          <p:nvPr/>
        </p:nvSpPr>
        <p:spPr>
          <a:xfrm>
            <a:off x="320040" y="3063240"/>
            <a:ext cx="128016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2"/>
          <p:cNvSpPr/>
          <p:nvPr/>
        </p:nvSpPr>
        <p:spPr>
          <a:xfrm>
            <a:off x="320040" y="3063240"/>
            <a:ext cx="1280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2"/>
          <p:cNvSpPr/>
          <p:nvPr/>
        </p:nvSpPr>
        <p:spPr>
          <a:xfrm>
            <a:off x="1719072" y="3063240"/>
            <a:ext cx="6995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abordagem o autor usa?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2"/>
          <p:cNvSpPr/>
          <p:nvPr/>
        </p:nvSpPr>
        <p:spPr>
          <a:xfrm>
            <a:off x="320040" y="3730752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2"/>
          <p:cNvSpPr/>
          <p:nvPr/>
        </p:nvSpPr>
        <p:spPr>
          <a:xfrm>
            <a:off x="320040" y="3730752"/>
            <a:ext cx="128016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2"/>
          <p:cNvSpPr/>
          <p:nvPr/>
        </p:nvSpPr>
        <p:spPr>
          <a:xfrm>
            <a:off x="320040" y="3730752"/>
            <a:ext cx="1280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2"/>
          <p:cNvSpPr/>
          <p:nvPr/>
        </p:nvSpPr>
        <p:spPr>
          <a:xfrm>
            <a:off x="1719072" y="3730752"/>
            <a:ext cx="6995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a principal recomendação ou achado?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2"/>
          <p:cNvSpPr/>
          <p:nvPr/>
        </p:nvSpPr>
        <p:spPr>
          <a:xfrm>
            <a:off x="320040" y="4398264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2"/>
          <p:cNvSpPr/>
          <p:nvPr/>
        </p:nvSpPr>
        <p:spPr>
          <a:xfrm>
            <a:off x="320040" y="4398264"/>
            <a:ext cx="128016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2"/>
          <p:cNvSpPr/>
          <p:nvPr/>
        </p:nvSpPr>
        <p:spPr>
          <a:xfrm>
            <a:off x="320040" y="4398264"/>
            <a:ext cx="1280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Limitação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2"/>
          <p:cNvSpPr/>
          <p:nvPr/>
        </p:nvSpPr>
        <p:spPr>
          <a:xfrm>
            <a:off x="1719072" y="4398264"/>
            <a:ext cx="6995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o artigo não cobre ou deixa em aberto?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A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3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33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APRESENTAÇÃO DOS ALUNOS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3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você leu?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3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33"/>
          <p:cNvSpPr/>
          <p:nvPr/>
        </p:nvSpPr>
        <p:spPr>
          <a:xfrm>
            <a:off x="365760" y="12344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Cada grupo vai ao quadro: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3"/>
          <p:cNvSpPr/>
          <p:nvPr/>
        </p:nvSpPr>
        <p:spPr>
          <a:xfrm>
            <a:off x="320040" y="1664208"/>
            <a:ext cx="2011680" cy="41148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33"/>
          <p:cNvSpPr/>
          <p:nvPr/>
        </p:nvSpPr>
        <p:spPr>
          <a:xfrm>
            <a:off x="320040" y="166420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3"/>
          <p:cNvSpPr/>
          <p:nvPr/>
        </p:nvSpPr>
        <p:spPr>
          <a:xfrm>
            <a:off x="320040" y="2121408"/>
            <a:ext cx="2011680" cy="242316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3"/>
          <p:cNvSpPr/>
          <p:nvPr/>
        </p:nvSpPr>
        <p:spPr>
          <a:xfrm>
            <a:off x="2468880" y="1664208"/>
            <a:ext cx="2011680" cy="41148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3"/>
          <p:cNvSpPr/>
          <p:nvPr/>
        </p:nvSpPr>
        <p:spPr>
          <a:xfrm>
            <a:off x="2468880" y="166420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3"/>
          <p:cNvSpPr/>
          <p:nvPr/>
        </p:nvSpPr>
        <p:spPr>
          <a:xfrm>
            <a:off x="2468880" y="2121408"/>
            <a:ext cx="2011680" cy="242316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3"/>
          <p:cNvSpPr/>
          <p:nvPr/>
        </p:nvSpPr>
        <p:spPr>
          <a:xfrm>
            <a:off x="4617720" y="1664208"/>
            <a:ext cx="2011680" cy="41148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3"/>
          <p:cNvSpPr/>
          <p:nvPr/>
        </p:nvSpPr>
        <p:spPr>
          <a:xfrm>
            <a:off x="4617720" y="166420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3"/>
          <p:cNvSpPr/>
          <p:nvPr/>
        </p:nvSpPr>
        <p:spPr>
          <a:xfrm>
            <a:off x="4617720" y="2121408"/>
            <a:ext cx="2011680" cy="242316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3"/>
          <p:cNvSpPr/>
          <p:nvPr/>
        </p:nvSpPr>
        <p:spPr>
          <a:xfrm>
            <a:off x="6766560" y="1664208"/>
            <a:ext cx="2011680" cy="41148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33"/>
          <p:cNvSpPr/>
          <p:nvPr/>
        </p:nvSpPr>
        <p:spPr>
          <a:xfrm>
            <a:off x="6766560" y="166420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3"/>
          <p:cNvSpPr/>
          <p:nvPr/>
        </p:nvSpPr>
        <p:spPr>
          <a:xfrm>
            <a:off x="6766560" y="2121408"/>
            <a:ext cx="2011680" cy="242316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3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O professor não corrige ainda — só facilita e organiza o que surgiu.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D00"/>
        </a:solidFill>
      </p:bgPr>
    </p:bg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3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8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REFERÊNCIAS E CITAÇÃO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8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Encontre os erros nestas referências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8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8"/>
          <p:cNvSpPr/>
          <p:nvPr/>
        </p:nvSpPr>
        <p:spPr>
          <a:xfrm>
            <a:off x="365760" y="12070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As referências abaixo têm erros propositais. Identifique o que está errado em cada uma: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8"/>
          <p:cNvSpPr/>
          <p:nvPr/>
        </p:nvSpPr>
        <p:spPr>
          <a:xfrm>
            <a:off x="320040" y="1664208"/>
            <a:ext cx="8503920" cy="66751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8"/>
          <p:cNvSpPr/>
          <p:nvPr/>
        </p:nvSpPr>
        <p:spPr>
          <a:xfrm>
            <a:off x="320040" y="1664208"/>
            <a:ext cx="411480" cy="66751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38"/>
          <p:cNvSpPr/>
          <p:nvPr/>
        </p:nvSpPr>
        <p:spPr>
          <a:xfrm>
            <a:off x="320040" y="1664208"/>
            <a:ext cx="41148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8"/>
          <p:cNvSpPr/>
          <p:nvPr/>
        </p:nvSpPr>
        <p:spPr>
          <a:xfrm>
            <a:off x="822960" y="1664208"/>
            <a:ext cx="786384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KESHAV, S. How to read a paper. ACM SIGCOMM Computer Communication Review, v. 37, n. 3, p. 83-84.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8"/>
          <p:cNvSpPr/>
          <p:nvPr/>
        </p:nvSpPr>
        <p:spPr>
          <a:xfrm>
            <a:off x="320040" y="2441448"/>
            <a:ext cx="8503920" cy="66751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8"/>
          <p:cNvSpPr/>
          <p:nvPr/>
        </p:nvSpPr>
        <p:spPr>
          <a:xfrm>
            <a:off x="320040" y="2441448"/>
            <a:ext cx="411480" cy="66751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8"/>
          <p:cNvSpPr/>
          <p:nvPr/>
        </p:nvSpPr>
        <p:spPr>
          <a:xfrm>
            <a:off x="320040" y="2441448"/>
            <a:ext cx="41148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8"/>
          <p:cNvSpPr/>
          <p:nvPr/>
        </p:nvSpPr>
        <p:spPr>
          <a:xfrm>
            <a:off x="822960" y="2441448"/>
            <a:ext cx="786384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França, A.C.C. Como Ler Artigos Científicos? SBC Horizontes, Dezembro 2012.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8"/>
          <p:cNvSpPr/>
          <p:nvPr/>
        </p:nvSpPr>
        <p:spPr>
          <a:xfrm>
            <a:off x="320040" y="3218688"/>
            <a:ext cx="8503920" cy="66751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38"/>
          <p:cNvSpPr/>
          <p:nvPr/>
        </p:nvSpPr>
        <p:spPr>
          <a:xfrm>
            <a:off x="320040" y="3218688"/>
            <a:ext cx="411480" cy="66751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8"/>
          <p:cNvSpPr/>
          <p:nvPr/>
        </p:nvSpPr>
        <p:spPr>
          <a:xfrm>
            <a:off x="320040" y="3218688"/>
            <a:ext cx="41148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8"/>
          <p:cNvSpPr/>
          <p:nvPr/>
        </p:nvSpPr>
        <p:spPr>
          <a:xfrm>
            <a:off x="822960" y="3218688"/>
            <a:ext cx="786384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FILGUEIRAS, L. V. L.; SILVA, B. D. Ética no envolvimento de seres humanos na Engenharia de Software. Scientia, São Paulo, 2008.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8"/>
          <p:cNvSpPr/>
          <p:nvPr/>
        </p:nvSpPr>
        <p:spPr>
          <a:xfrm>
            <a:off x="320040" y="3995928"/>
            <a:ext cx="8503920" cy="66751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38"/>
          <p:cNvSpPr/>
          <p:nvPr/>
        </p:nvSpPr>
        <p:spPr>
          <a:xfrm>
            <a:off x="320040" y="3995928"/>
            <a:ext cx="411480" cy="66751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38"/>
          <p:cNvSpPr/>
          <p:nvPr/>
        </p:nvSpPr>
        <p:spPr>
          <a:xfrm>
            <a:off x="320040" y="3995928"/>
            <a:ext cx="41148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8"/>
          <p:cNvSpPr/>
          <p:nvPr/>
        </p:nvSpPr>
        <p:spPr>
          <a:xfrm>
            <a:off x="822960" y="3995928"/>
            <a:ext cx="786384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WOHLIN, C. et al. Experimentation in Software Engineering. Springer, 2012. Disponível em: &lt;link&gt;. Acesso em: 10 jan. 2024.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8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38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Dica: verifique autor, ano, título, fonte, volume/número, página e formato ABNT.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005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3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9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PRÁTICA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9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Agora é a sua vez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9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9"/>
          <p:cNvSpPr/>
          <p:nvPr/>
        </p:nvSpPr>
        <p:spPr>
          <a:xfrm>
            <a:off x="365760" y="12070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Mini-apresentação do seu tema de pesquisa — 5 a 7 minutos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9"/>
          <p:cNvSpPr/>
          <p:nvPr/>
        </p:nvSpPr>
        <p:spPr>
          <a:xfrm>
            <a:off x="320040" y="1664208"/>
            <a:ext cx="8503920" cy="69494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9"/>
          <p:cNvSpPr/>
          <p:nvPr/>
        </p:nvSpPr>
        <p:spPr>
          <a:xfrm>
            <a:off x="320040" y="1664208"/>
            <a:ext cx="54864" cy="69494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39"/>
          <p:cNvSpPr/>
          <p:nvPr/>
        </p:nvSpPr>
        <p:spPr>
          <a:xfrm>
            <a:off x="502920" y="172821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Escolha o formato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9"/>
          <p:cNvSpPr/>
          <p:nvPr/>
        </p:nvSpPr>
        <p:spPr>
          <a:xfrm>
            <a:off x="502920" y="2048256"/>
            <a:ext cx="7909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Academia (defesa/banca) ou Indústria (stakeholders). Declare no início.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39"/>
          <p:cNvSpPr/>
          <p:nvPr/>
        </p:nvSpPr>
        <p:spPr>
          <a:xfrm>
            <a:off x="320040" y="2468880"/>
            <a:ext cx="8503920" cy="69494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39"/>
          <p:cNvSpPr/>
          <p:nvPr/>
        </p:nvSpPr>
        <p:spPr>
          <a:xfrm>
            <a:off x="320040" y="2468880"/>
            <a:ext cx="54864" cy="69494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9"/>
          <p:cNvSpPr/>
          <p:nvPr/>
        </p:nvSpPr>
        <p:spPr>
          <a:xfrm>
            <a:off x="502920" y="253288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Cubra o essencial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9"/>
          <p:cNvSpPr/>
          <p:nvPr/>
        </p:nvSpPr>
        <p:spPr>
          <a:xfrm>
            <a:off x="502920" y="2852928"/>
            <a:ext cx="7909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Qual o problema? Por que importa? Qual sua abordagem? O que você espera contribuir?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9"/>
          <p:cNvSpPr/>
          <p:nvPr/>
        </p:nvSpPr>
        <p:spPr>
          <a:xfrm>
            <a:off x="320040" y="3273552"/>
            <a:ext cx="8503920" cy="69494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39"/>
          <p:cNvSpPr/>
          <p:nvPr/>
        </p:nvSpPr>
        <p:spPr>
          <a:xfrm>
            <a:off x="320040" y="3273552"/>
            <a:ext cx="54864" cy="69494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39"/>
          <p:cNvSpPr/>
          <p:nvPr/>
        </p:nvSpPr>
        <p:spPr>
          <a:xfrm>
            <a:off x="502920" y="33375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Sem slides obrigatório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9"/>
          <p:cNvSpPr/>
          <p:nvPr/>
        </p:nvSpPr>
        <p:spPr>
          <a:xfrm>
            <a:off x="502920" y="3657600"/>
            <a:ext cx="7909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Pode usar quadro, falar de pé ou improvisar. Conteúdo vale mais que forma.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9"/>
          <p:cNvSpPr/>
          <p:nvPr/>
        </p:nvSpPr>
        <p:spPr>
          <a:xfrm>
            <a:off x="320040" y="4078224"/>
            <a:ext cx="8503920" cy="69494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9"/>
          <p:cNvSpPr/>
          <p:nvPr/>
        </p:nvSpPr>
        <p:spPr>
          <a:xfrm>
            <a:off x="320040" y="4078224"/>
            <a:ext cx="54864" cy="69494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9"/>
          <p:cNvSpPr/>
          <p:nvPr/>
        </p:nvSpPr>
        <p:spPr>
          <a:xfrm>
            <a:off x="502920" y="414223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Feedback estruturado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9"/>
          <p:cNvSpPr/>
          <p:nvPr/>
        </p:nvSpPr>
        <p:spPr>
          <a:xfrm>
            <a:off x="502920" y="4462272"/>
            <a:ext cx="7909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Colegas e professor avaliam: clareza do problema e adequação ao formato escolhido.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40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CANVAS — FECHAMENTO DO FDS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40"/>
          <p:cNvSpPr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Canvas da sua pesquisa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40"/>
          <p:cNvSpPr/>
          <p:nvPr/>
        </p:nvSpPr>
        <p:spPr>
          <a:xfrm>
            <a:off x="365760" y="98755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40"/>
          <p:cNvSpPr/>
          <p:nvPr/>
        </p:nvSpPr>
        <p:spPr>
          <a:xfrm>
            <a:off x="365760" y="10972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Preencha individualmente — será o ponto de partida para o próximo FDS: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40"/>
          <p:cNvSpPr/>
          <p:nvPr/>
        </p:nvSpPr>
        <p:spPr>
          <a:xfrm>
            <a:off x="274320" y="1481328"/>
            <a:ext cx="4160520" cy="14813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40"/>
          <p:cNvSpPr/>
          <p:nvPr/>
        </p:nvSpPr>
        <p:spPr>
          <a:xfrm>
            <a:off x="274320" y="1481328"/>
            <a:ext cx="4160520" cy="34747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40"/>
          <p:cNvSpPr/>
          <p:nvPr/>
        </p:nvSpPr>
        <p:spPr>
          <a:xfrm>
            <a:off x="274320" y="1481328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 de pesquisa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40"/>
          <p:cNvSpPr/>
          <p:nvPr/>
        </p:nvSpPr>
        <p:spPr>
          <a:xfrm>
            <a:off x="4709160" y="1481328"/>
            <a:ext cx="4160520" cy="14813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40"/>
          <p:cNvSpPr/>
          <p:nvPr/>
        </p:nvSpPr>
        <p:spPr>
          <a:xfrm>
            <a:off x="4709160" y="1481328"/>
            <a:ext cx="4160520" cy="34747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40"/>
          <p:cNvSpPr/>
          <p:nvPr/>
        </p:nvSpPr>
        <p:spPr>
          <a:xfrm>
            <a:off x="4709160" y="1481328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Lacuna / Gap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40"/>
          <p:cNvSpPr/>
          <p:nvPr/>
        </p:nvSpPr>
        <p:spPr>
          <a:xfrm>
            <a:off x="274320" y="3108960"/>
            <a:ext cx="2697480" cy="171907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40"/>
          <p:cNvSpPr/>
          <p:nvPr/>
        </p:nvSpPr>
        <p:spPr>
          <a:xfrm>
            <a:off x="274320" y="3108960"/>
            <a:ext cx="2697480" cy="34747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40"/>
          <p:cNvSpPr/>
          <p:nvPr/>
        </p:nvSpPr>
        <p:spPr>
          <a:xfrm>
            <a:off x="274320" y="3108960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Referencial teórico (pilares)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40"/>
          <p:cNvSpPr/>
          <p:nvPr/>
        </p:nvSpPr>
        <p:spPr>
          <a:xfrm>
            <a:off x="3127248" y="3108960"/>
            <a:ext cx="2697480" cy="171907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40"/>
          <p:cNvSpPr/>
          <p:nvPr/>
        </p:nvSpPr>
        <p:spPr>
          <a:xfrm>
            <a:off x="3127248" y="3108960"/>
            <a:ext cx="2697480" cy="34747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40"/>
          <p:cNvSpPr/>
          <p:nvPr/>
        </p:nvSpPr>
        <p:spPr>
          <a:xfrm>
            <a:off x="3127248" y="3108960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Método previsto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40"/>
          <p:cNvSpPr/>
          <p:nvPr/>
        </p:nvSpPr>
        <p:spPr>
          <a:xfrm>
            <a:off x="6144768" y="3108960"/>
            <a:ext cx="2724912" cy="171907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40"/>
          <p:cNvSpPr/>
          <p:nvPr/>
        </p:nvSpPr>
        <p:spPr>
          <a:xfrm>
            <a:off x="6144768" y="3108960"/>
            <a:ext cx="2724912" cy="34747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40"/>
          <p:cNvSpPr/>
          <p:nvPr/>
        </p:nvSpPr>
        <p:spPr>
          <a:xfrm>
            <a:off x="6144768" y="310896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Contribuição esperada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2026-05-14T17:29:25Z</dcterms:created>
  <dc:creator>PptxGenJS</dc:creator>
</cp:coreProperties>
</file>